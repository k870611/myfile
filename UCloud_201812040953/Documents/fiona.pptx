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99" d="100"/>
          <a:sy n="99" d="100"/>
        </p:scale>
        <p:origin x="-120" y="-5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interSettings" Target="printerSettings/printerSettings1.bin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7" descr="1-01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84" y="1268413"/>
            <a:ext cx="12192000" cy="481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圖片 8" descr="1-05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988"/>
            <a:ext cx="12192000" cy="615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685800"/>
            <a:ext cx="8026400" cy="914400"/>
          </a:xfrm>
        </p:spPr>
        <p:txBody>
          <a:bodyPr>
            <a:noAutofit/>
          </a:bodyPr>
          <a:lstStyle>
            <a:lvl1pPr>
              <a:defRPr sz="4000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609600" y="1447800"/>
            <a:ext cx="6807200" cy="7620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 smtClean="0"/>
              <a:t>Click to edit Master subtitle style</a:t>
            </a:r>
            <a:endParaRPr lang="en-US" altLang="zh-TW" dirty="0" smtClean="0"/>
          </a:p>
        </p:txBody>
      </p:sp>
      <p:sp>
        <p:nvSpPr>
          <p:cNvPr id="6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A1CB25-E3B7-42FA-BC60-10128DA20127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740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7" descr="1-05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988"/>
            <a:ext cx="12192000" cy="615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692696"/>
            <a:ext cx="10972800" cy="724942"/>
          </a:xfrm>
        </p:spPr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BD87E4-BFD8-4BF4-A23C-C61C9EBBD699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4139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7" descr="1-05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988"/>
            <a:ext cx="12192000" cy="615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692696"/>
            <a:ext cx="10972800" cy="724942"/>
          </a:xfrm>
        </p:spPr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6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EF6015-E0A7-45D2-A371-A90F58162E7D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4917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7" descr="1-05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988"/>
            <a:ext cx="12192000" cy="615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764704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764705"/>
            <a:ext cx="6815667" cy="536145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2060849"/>
            <a:ext cx="4011084" cy="40653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</p:txBody>
      </p:sp>
      <p:sp>
        <p:nvSpPr>
          <p:cNvPr id="6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CBA3CE-FBFB-4912-AF03-1671754CDF4B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4223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7" descr="1-05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988"/>
            <a:ext cx="12192000" cy="615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764704"/>
            <a:ext cx="7315200" cy="3962871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altLang="zh-TW" noProof="0" dirty="0" smtClean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06223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直排文字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7" descr="小胖人1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0451" y="1916113"/>
            <a:ext cx="4127500" cy="323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圖片 8" descr="1-05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988"/>
            <a:ext cx="12192000" cy="615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235424" y="3429000"/>
            <a:ext cx="5548875" cy="796950"/>
          </a:xfrm>
        </p:spPr>
        <p:txBody>
          <a:bodyPr>
            <a:normAutofit/>
          </a:bodyPr>
          <a:lstStyle>
            <a:lvl1pPr>
              <a:defRPr sz="35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E6A6D9-CD52-4C97-8D7B-5324F6817034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1142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7" descr="1-01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84" y="1268413"/>
            <a:ext cx="12192000" cy="481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圖片 8" descr="1-05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988"/>
            <a:ext cx="12192000" cy="615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685800"/>
            <a:ext cx="7924800" cy="914400"/>
          </a:xfrm>
        </p:spPr>
        <p:txBody>
          <a:bodyPr>
            <a:noAutofit/>
          </a:bodyPr>
          <a:lstStyle>
            <a:lvl1pPr>
              <a:defRPr sz="4000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609600" y="1447800"/>
            <a:ext cx="6807200" cy="9144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 smtClean="0"/>
              <a:t>Click to edit Master subtitle style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3815564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7" descr="1-05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988"/>
            <a:ext cx="12192000" cy="615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692696"/>
            <a:ext cx="10972800" cy="724942"/>
          </a:xfrm>
        </p:spPr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BC8B6D-9EE5-4401-B2C2-3AAED52B30C2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4184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7" descr="1-05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988"/>
            <a:ext cx="12192000" cy="615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692696"/>
            <a:ext cx="10972800" cy="724942"/>
          </a:xfrm>
        </p:spPr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6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B37F5F-5FF0-4447-9CAC-BAAE6618E142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9617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7" descr="1-05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988"/>
            <a:ext cx="12192000" cy="615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764704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764705"/>
            <a:ext cx="6815667" cy="536145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2060849"/>
            <a:ext cx="4011084" cy="40653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</p:txBody>
      </p:sp>
      <p:sp>
        <p:nvSpPr>
          <p:cNvPr id="6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8E3967-99DD-4449-B01B-3CD5A10906CD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5367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7" descr="1-05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988"/>
            <a:ext cx="12192000" cy="615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764704"/>
            <a:ext cx="7315200" cy="3962871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altLang="zh-TW" noProof="0" dirty="0" smtClean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</p:txBody>
      </p:sp>
      <p:sp>
        <p:nvSpPr>
          <p:cNvPr id="6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752AA5-4B00-47B4-84E6-8FBE4EA3BBFD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27165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及直排文字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7" descr="小胖人1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0451" y="1916113"/>
            <a:ext cx="4127500" cy="323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圖片 8" descr="1-05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988"/>
            <a:ext cx="12192000" cy="615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235424" y="3429000"/>
            <a:ext cx="5548875" cy="796950"/>
          </a:xfrm>
        </p:spPr>
        <p:txBody>
          <a:bodyPr>
            <a:normAutofit/>
          </a:bodyPr>
          <a:lstStyle>
            <a:lvl1pPr>
              <a:defRPr sz="35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31B790-AC02-42F2-B508-EED52D66FEC9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24842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6503224"/>
      </p:ext>
    </p:extLst>
  </p:cSld>
  <p:clrMapOvr>
    <a:masterClrMapping/>
  </p:clrMapOvr>
  <p:transition xmlns:p14="http://schemas.microsoft.com/office/powerpoint/2010/main">
    <p:blinds dir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F27B171-0E58-4851-8132-8767630386E9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61535465"/>
      </p:ext>
    </p:extLst>
  </p:cSld>
  <p:clrMapOvr>
    <a:masterClrMapping/>
  </p:clrMapOvr>
  <p:transition xmlns:p14="http://schemas.microsoft.com/office/powerpoint/2010/main">
    <p:blinds dir="vert"/>
  </p:transition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image" Target="../media/image1.jpeg"/><Relationship Id="rId17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圖片 6" descr="1-02.png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13488"/>
            <a:ext cx="121920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7" name="標題版面配置區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1268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1219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282BB6B-5B75-4B74-ACCF-70EFFA9C0F3F}" type="slidenum">
              <a:rPr lang="zh-TW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8385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chemeClr val="tx1"/>
          </a:solidFill>
          <a:latin typeface="+mj-lt"/>
          <a:ea typeface="Microsoft YaHei" pitchFamily="34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Calibri" pitchFamily="34" charset="0"/>
          <a:ea typeface="Microsoft YaHei" pitchFamily="34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Calibri" pitchFamily="34" charset="0"/>
          <a:ea typeface="Microsoft YaHei" pitchFamily="34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Calibri" pitchFamily="34" charset="0"/>
          <a:ea typeface="Microsoft YaHei" pitchFamily="34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Calibri" pitchFamily="34" charset="0"/>
          <a:ea typeface="Microsoft YaHei" pitchFamily="34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Calibri" pitchFamily="34" charset="0"/>
          <a:ea typeface="Microsoft YaHei" pitchFamily="34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Calibri" pitchFamily="34" charset="0"/>
          <a:ea typeface="Microsoft YaHei" pitchFamily="34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Calibri" pitchFamily="34" charset="0"/>
          <a:ea typeface="Microsoft YaHei" pitchFamily="34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Calibri" pitchFamily="34" charset="0"/>
          <a:ea typeface="Microsoft YaHei" pitchFamily="34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Calibri" pitchFamily="34" charset="0"/>
          <a:ea typeface="Microsoft YaHei" pitchFamily="34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Calibri" pitchFamily="34" charset="0"/>
          <a:ea typeface="Microsoft YaHei" pitchFamily="34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itchFamily="34" charset="0"/>
          <a:ea typeface="Microsoft YaHei" pitchFamily="34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Calibri" pitchFamily="34" charset="0"/>
          <a:ea typeface="Microsoft YaHei" pitchFamily="34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Calibri" pitchFamily="34" charset="0"/>
          <a:ea typeface="Microsoft YaHei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jpeg"/><Relationship Id="rId5" Type="http://schemas.openxmlformats.org/officeDocument/2006/relationships/image" Target="../media/image11.png"/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文字方塊 2"/>
          <p:cNvSpPr txBox="1">
            <a:spLocks noChangeArrowheads="1"/>
          </p:cNvSpPr>
          <p:nvPr/>
        </p:nvSpPr>
        <p:spPr bwMode="auto">
          <a:xfrm>
            <a:off x="1524000" y="6488114"/>
            <a:ext cx="3200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zh-TW">
                <a:solidFill>
                  <a:srgbClr val="0070C0"/>
                </a:solidFill>
                <a:latin typeface="Calibri" panose="020F0502020204030204" pitchFamily="34" charset="0"/>
              </a:rPr>
              <a:t>Foxconn Confidential</a:t>
            </a:r>
            <a:endParaRPr kumimoji="0" lang="zh-TW" altLang="en-US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5" name="矩形 6"/>
          <p:cNvSpPr>
            <a:spLocks noChangeArrowheads="1"/>
          </p:cNvSpPr>
          <p:nvPr/>
        </p:nvSpPr>
        <p:spPr bwMode="auto">
          <a:xfrm>
            <a:off x="2722564" y="1628776"/>
            <a:ext cx="6499225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3600" b="1" dirty="0">
                <a:solidFill>
                  <a:srgbClr val="1F497D"/>
                </a:solidFill>
                <a:cs typeface="Arial" charset="0"/>
              </a:rPr>
              <a:t>Kylin2 Tank</a:t>
            </a:r>
            <a:r>
              <a:rPr lang="zh-TW" altLang="en-US" sz="3600" b="1" dirty="0">
                <a:solidFill>
                  <a:srgbClr val="1F497D"/>
                </a:solidFill>
                <a:cs typeface="Arial" charset="0"/>
              </a:rPr>
              <a:t>不開蓋外部監控系統</a:t>
            </a:r>
            <a:endParaRPr lang="zh-TW" altLang="en-US" sz="3600" dirty="0">
              <a:solidFill>
                <a:srgbClr val="1F497D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93643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62" name="圖片 4" descr="螢幕截圖 2017-06-15 16.17.55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0139" y="1844675"/>
            <a:ext cx="5419725" cy="316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63" name="圖片 1" descr="螢幕截圖 2017-06-22 11.01.0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2863" y="1700214"/>
            <a:ext cx="781050" cy="108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字方塊 6"/>
          <p:cNvSpPr txBox="1"/>
          <p:nvPr/>
        </p:nvSpPr>
        <p:spPr>
          <a:xfrm>
            <a:off x="4962526" y="3068639"/>
            <a:ext cx="1082675" cy="369887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dirty="0">
                <a:solidFill>
                  <a:prstClr val="white"/>
                </a:solidFill>
              </a:rPr>
              <a:t>BMC port</a:t>
            </a:r>
            <a:endParaRPr kumimoji="1" lang="zh-TW" altLang="en-US" dirty="0">
              <a:solidFill>
                <a:prstClr val="white"/>
              </a:solidFill>
            </a:endParaRPr>
          </a:p>
        </p:txBody>
      </p:sp>
      <p:sp>
        <p:nvSpPr>
          <p:cNvPr id="143365" name="文字方塊 30"/>
          <p:cNvSpPr txBox="1">
            <a:spLocks noChangeArrowheads="1"/>
          </p:cNvSpPr>
          <p:nvPr/>
        </p:nvSpPr>
        <p:spPr bwMode="auto">
          <a:xfrm>
            <a:off x="5016501" y="2708275"/>
            <a:ext cx="11715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>
                <a:solidFill>
                  <a:srgbClr val="FF0000"/>
                </a:solidFill>
              </a:rPr>
              <a:t>IPMI data</a:t>
            </a:r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1624013" y="923926"/>
            <a:ext cx="1890712" cy="3140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dirty="0">
                <a:solidFill>
                  <a:prstClr val="white"/>
                </a:solidFill>
              </a:rPr>
              <a:t>Tank</a:t>
            </a:r>
            <a:r>
              <a:rPr kumimoji="1" lang="zh-TW" altLang="en-US" dirty="0">
                <a:solidFill>
                  <a:prstClr val="white"/>
                </a:solidFill>
              </a:rPr>
              <a:t>外部控制需求</a:t>
            </a:r>
            <a:endParaRPr kumimoji="1" lang="en-US" altLang="zh-TW" dirty="0">
              <a:solidFill>
                <a:prstClr val="white"/>
              </a:solidFill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/>
              <a:buChar char="•"/>
              <a:defRPr/>
            </a:pPr>
            <a:r>
              <a:rPr kumimoji="1" lang="en-US" altLang="zh-TW" dirty="0">
                <a:solidFill>
                  <a:prstClr val="white"/>
                </a:solidFill>
              </a:rPr>
              <a:t>Server </a:t>
            </a:r>
            <a:r>
              <a:rPr kumimoji="1" lang="zh-TW" altLang="en-US" dirty="0">
                <a:solidFill>
                  <a:prstClr val="white"/>
                </a:solidFill>
              </a:rPr>
              <a:t>資訊外部顯示</a:t>
            </a:r>
            <a:endParaRPr kumimoji="1" lang="en-US" altLang="zh-TW" dirty="0">
              <a:solidFill>
                <a:prstClr val="white"/>
              </a:solidFill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/>
              <a:buChar char="•"/>
              <a:defRPr/>
            </a:pPr>
            <a:r>
              <a:rPr kumimoji="1" lang="en-US" altLang="zh-TW" dirty="0">
                <a:solidFill>
                  <a:prstClr val="white"/>
                </a:solidFill>
              </a:rPr>
              <a:t>Server </a:t>
            </a:r>
            <a:r>
              <a:rPr kumimoji="1" lang="zh-TW" altLang="en-US" dirty="0">
                <a:solidFill>
                  <a:prstClr val="white"/>
                </a:solidFill>
              </a:rPr>
              <a:t>電源重開機</a:t>
            </a:r>
            <a:endParaRPr kumimoji="1" lang="en-US" altLang="zh-TW" dirty="0">
              <a:solidFill>
                <a:prstClr val="white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TW" dirty="0">
              <a:solidFill>
                <a:prstClr val="white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TW" dirty="0">
              <a:solidFill>
                <a:prstClr val="white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TW" altLang="en-US" dirty="0">
                <a:solidFill>
                  <a:prstClr val="white"/>
                </a:solidFill>
              </a:rPr>
              <a:t>整合介面</a:t>
            </a:r>
            <a:endParaRPr kumimoji="1" lang="en-US" altLang="zh-TW" dirty="0">
              <a:solidFill>
                <a:prstClr val="white"/>
              </a:solidFill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/>
              <a:buChar char="•"/>
              <a:defRPr/>
            </a:pPr>
            <a:r>
              <a:rPr kumimoji="1" lang="en-US" altLang="zh-TW" dirty="0">
                <a:solidFill>
                  <a:prstClr val="white"/>
                </a:solidFill>
              </a:rPr>
              <a:t>Server BMC/IPMI</a:t>
            </a:r>
          </a:p>
        </p:txBody>
      </p:sp>
      <p:pic>
        <p:nvPicPr>
          <p:cNvPr id="143367" name="Picture 4" descr="「pad」的圖片搜尋結果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1" y="5157789"/>
            <a:ext cx="1171575" cy="106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8" name="直線單箭頭接點 3"/>
          <p:cNvCxnSpPr/>
          <p:nvPr/>
        </p:nvCxnSpPr>
        <p:spPr>
          <a:xfrm rot="10800000" flipV="1">
            <a:off x="5826126" y="4076701"/>
            <a:ext cx="1457325" cy="1655763"/>
          </a:xfrm>
          <a:prstGeom prst="bentConnector3">
            <a:avLst>
              <a:gd name="adj1" fmla="val 13420"/>
            </a:avLst>
          </a:prstGeom>
          <a:ln w="25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369" name="文字方塊 10"/>
          <p:cNvSpPr txBox="1">
            <a:spLocks noChangeArrowheads="1"/>
          </p:cNvSpPr>
          <p:nvPr/>
        </p:nvSpPr>
        <p:spPr bwMode="auto">
          <a:xfrm>
            <a:off x="8526463" y="1989138"/>
            <a:ext cx="189071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>
                <a:solidFill>
                  <a:srgbClr val="FF0000"/>
                </a:solidFill>
              </a:rPr>
              <a:t>Server </a:t>
            </a:r>
            <a:r>
              <a:rPr lang="zh-TW" altLang="en-US">
                <a:solidFill>
                  <a:srgbClr val="FF0000"/>
                </a:solidFill>
              </a:rPr>
              <a:t>狀態警示螢幕</a:t>
            </a:r>
          </a:p>
        </p:txBody>
      </p:sp>
      <p:sp>
        <p:nvSpPr>
          <p:cNvPr id="27" name="圓角矩形圖說文字 26"/>
          <p:cNvSpPr/>
          <p:nvPr/>
        </p:nvSpPr>
        <p:spPr>
          <a:xfrm>
            <a:off x="7267575" y="5016500"/>
            <a:ext cx="3333750" cy="1714500"/>
          </a:xfrm>
          <a:prstGeom prst="wedgeRoundRectCallout">
            <a:avLst>
              <a:gd name="adj1" fmla="val -50302"/>
              <a:gd name="adj2" fmla="val -98088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TW" altLang="en-US" dirty="0">
                <a:solidFill>
                  <a:srgbClr val="FF0000"/>
                </a:solidFill>
              </a:rPr>
              <a:t>不開蓋外部控制系統主機</a:t>
            </a:r>
            <a:endParaRPr kumimoji="1" lang="en-US" altLang="zh-TW" dirty="0">
              <a:solidFill>
                <a:srgbClr val="FF0000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dirty="0">
                <a:solidFill>
                  <a:prstClr val="black"/>
                </a:solidFill>
              </a:rPr>
              <a:t>-- Server BMC </a:t>
            </a:r>
            <a:r>
              <a:rPr kumimoji="1" lang="zh-TW" altLang="en-US" dirty="0">
                <a:solidFill>
                  <a:prstClr val="black"/>
                </a:solidFill>
              </a:rPr>
              <a:t>資料收容與整理</a:t>
            </a:r>
            <a:endParaRPr kumimoji="1" lang="en-US" altLang="zh-TW" dirty="0">
              <a:solidFill>
                <a:prstClr val="black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dirty="0">
                <a:solidFill>
                  <a:prstClr val="black"/>
                </a:solidFill>
              </a:rPr>
              <a:t>-- Server HDD </a:t>
            </a:r>
            <a:r>
              <a:rPr kumimoji="1" lang="zh-TW" altLang="en-US" dirty="0">
                <a:solidFill>
                  <a:prstClr val="black"/>
                </a:solidFill>
              </a:rPr>
              <a:t>健康狀況資料收容與整理</a:t>
            </a:r>
            <a:endParaRPr kumimoji="1" lang="en-US" altLang="zh-TW" dirty="0">
              <a:solidFill>
                <a:prstClr val="black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dirty="0">
                <a:solidFill>
                  <a:prstClr val="black"/>
                </a:solidFill>
              </a:rPr>
              <a:t>-- </a:t>
            </a:r>
            <a:r>
              <a:rPr kumimoji="1" lang="zh-TW" altLang="en-US" dirty="0">
                <a:solidFill>
                  <a:prstClr val="black"/>
                </a:solidFill>
              </a:rPr>
              <a:t>警示螢幕程式</a:t>
            </a:r>
            <a:endParaRPr kumimoji="1" lang="en-US" altLang="zh-TW" dirty="0">
              <a:solidFill>
                <a:prstClr val="black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dirty="0">
                <a:solidFill>
                  <a:prstClr val="black"/>
                </a:solidFill>
              </a:rPr>
              <a:t>--</a:t>
            </a:r>
            <a:r>
              <a:rPr kumimoji="1" lang="zh-TW" altLang="en-US" dirty="0">
                <a:solidFill>
                  <a:prstClr val="black"/>
                </a:solidFill>
              </a:rPr>
              <a:t>預留警示螢幕程式界面給阿里進行遠端環控告警使用</a:t>
            </a:r>
            <a:endParaRPr kumimoji="1" lang="en-US" altLang="zh-TW" dirty="0">
              <a:solidFill>
                <a:prstClr val="black"/>
              </a:solidFill>
            </a:endParaRPr>
          </a:p>
        </p:txBody>
      </p:sp>
      <p:cxnSp>
        <p:nvCxnSpPr>
          <p:cNvPr id="40" name="直線接點 39"/>
          <p:cNvCxnSpPr/>
          <p:nvPr/>
        </p:nvCxnSpPr>
        <p:spPr>
          <a:xfrm>
            <a:off x="8089900" y="2678114"/>
            <a:ext cx="0" cy="1944687"/>
          </a:xfrm>
          <a:prstGeom prst="lin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橢圓 40"/>
          <p:cNvSpPr/>
          <p:nvPr/>
        </p:nvSpPr>
        <p:spPr>
          <a:xfrm>
            <a:off x="7743826" y="4445000"/>
            <a:ext cx="733425" cy="2413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zh-TW" altLang="en-US">
              <a:solidFill>
                <a:prstClr val="white"/>
              </a:solidFill>
            </a:endParaRPr>
          </a:p>
        </p:txBody>
      </p:sp>
      <p:sp>
        <p:nvSpPr>
          <p:cNvPr id="143373" name="文字方塊 41"/>
          <p:cNvSpPr txBox="1">
            <a:spLocks noChangeArrowheads="1"/>
          </p:cNvSpPr>
          <p:nvPr/>
        </p:nvSpPr>
        <p:spPr bwMode="auto">
          <a:xfrm>
            <a:off x="8364539" y="2636838"/>
            <a:ext cx="2465387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 sz="1600">
                <a:solidFill>
                  <a:prstClr val="black"/>
                </a:solidFill>
              </a:rPr>
              <a:t>--</a:t>
            </a:r>
            <a:r>
              <a:rPr lang="zh-TW" altLang="en-US" sz="1600">
                <a:solidFill>
                  <a:prstClr val="black"/>
                </a:solidFill>
              </a:rPr>
              <a:t>立桿</a:t>
            </a:r>
            <a:endParaRPr lang="en-US" altLang="zh-TW" sz="1600">
              <a:solidFill>
                <a:prstClr val="black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 sz="1600">
                <a:solidFill>
                  <a:prstClr val="black"/>
                </a:solidFill>
              </a:rPr>
              <a:t>--</a:t>
            </a:r>
            <a:r>
              <a:rPr lang="zh-TW" altLang="en-US" sz="1600">
                <a:solidFill>
                  <a:prstClr val="black"/>
                </a:solidFill>
              </a:rPr>
              <a:t>透過程式顯示各項告警模式</a:t>
            </a:r>
            <a:endParaRPr lang="en-US" altLang="zh-TW" sz="1600">
              <a:solidFill>
                <a:prstClr val="black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 sz="1600">
                <a:solidFill>
                  <a:prstClr val="black"/>
                </a:solidFill>
              </a:rPr>
              <a:t>--</a:t>
            </a:r>
            <a:r>
              <a:rPr lang="zh-TW" altLang="en-US" sz="1600">
                <a:solidFill>
                  <a:prstClr val="black"/>
                </a:solidFill>
              </a:rPr>
              <a:t>由不開蓋控制主機控制</a:t>
            </a:r>
            <a:endParaRPr lang="en-US" altLang="zh-TW" sz="1600">
              <a:solidFill>
                <a:prstClr val="black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 sz="1600">
                <a:solidFill>
                  <a:prstClr val="black"/>
                </a:solidFill>
              </a:rPr>
              <a:t>--</a:t>
            </a:r>
            <a:r>
              <a:rPr lang="zh-TW" altLang="en-US" sz="1600">
                <a:solidFill>
                  <a:prstClr val="black"/>
                </a:solidFill>
              </a:rPr>
              <a:t>預留網路介面供環控控制燈號</a:t>
            </a:r>
            <a:endParaRPr lang="en-US" altLang="zh-TW" sz="1600">
              <a:solidFill>
                <a:prstClr val="black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 sz="1600">
                <a:solidFill>
                  <a:prstClr val="black"/>
                </a:solidFill>
              </a:rPr>
              <a:t>--</a:t>
            </a:r>
            <a:r>
              <a:rPr lang="zh-TW" altLang="en-US" sz="1600">
                <a:solidFill>
                  <a:prstClr val="black"/>
                </a:solidFill>
              </a:rPr>
              <a:t>美觀考量</a:t>
            </a:r>
            <a:endParaRPr lang="en-US" altLang="zh-TW" sz="1600">
              <a:solidFill>
                <a:prstClr val="black"/>
              </a:solidFill>
            </a:endParaRPr>
          </a:p>
        </p:txBody>
      </p:sp>
      <p:cxnSp>
        <p:nvCxnSpPr>
          <p:cNvPr id="43" name="直線單箭頭接點 3"/>
          <p:cNvCxnSpPr/>
          <p:nvPr/>
        </p:nvCxnSpPr>
        <p:spPr>
          <a:xfrm rot="5400000">
            <a:off x="6998494" y="2777331"/>
            <a:ext cx="1327150" cy="757238"/>
          </a:xfrm>
          <a:prstGeom prst="bentConnector3">
            <a:avLst>
              <a:gd name="adj1" fmla="val 101293"/>
            </a:avLst>
          </a:prstGeom>
          <a:ln w="25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圓角矩形圖說文字 51"/>
          <p:cNvSpPr/>
          <p:nvPr/>
        </p:nvSpPr>
        <p:spPr>
          <a:xfrm>
            <a:off x="1628776" y="5384800"/>
            <a:ext cx="2828925" cy="1473200"/>
          </a:xfrm>
          <a:prstGeom prst="wedgeRoundRectCallout">
            <a:avLst>
              <a:gd name="adj1" fmla="val 66504"/>
              <a:gd name="adj2" fmla="val -43017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TW" altLang="en-US" dirty="0">
                <a:solidFill>
                  <a:srgbClr val="FF0000"/>
                </a:solidFill>
              </a:rPr>
              <a:t>不開蓋外部控制系統面板</a:t>
            </a:r>
            <a:endParaRPr kumimoji="1" lang="en-US" altLang="zh-TW" dirty="0">
              <a:solidFill>
                <a:srgbClr val="FF0000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dirty="0">
                <a:solidFill>
                  <a:prstClr val="black"/>
                </a:solidFill>
              </a:rPr>
              <a:t>-- </a:t>
            </a:r>
            <a:r>
              <a:rPr kumimoji="1" lang="zh-TW" altLang="en-US" dirty="0">
                <a:solidFill>
                  <a:prstClr val="black"/>
                </a:solidFill>
              </a:rPr>
              <a:t>圖形化操作介面</a:t>
            </a:r>
            <a:r>
              <a:rPr kumimoji="1" lang="en-US" altLang="zh-TW" dirty="0">
                <a:solidFill>
                  <a:prstClr val="black"/>
                </a:solidFill>
              </a:rPr>
              <a:t>(Web based)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dirty="0">
                <a:solidFill>
                  <a:prstClr val="black"/>
                </a:solidFill>
              </a:rPr>
              <a:t>-- Touch control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dirty="0">
                <a:solidFill>
                  <a:prstClr val="black"/>
                </a:solidFill>
              </a:rPr>
              <a:t>-- </a:t>
            </a:r>
            <a:r>
              <a:rPr kumimoji="1" lang="zh-TW" altLang="en-US" dirty="0">
                <a:solidFill>
                  <a:prstClr val="black"/>
                </a:solidFill>
              </a:rPr>
              <a:t>網路線直接連接不開蓋控制主機</a:t>
            </a:r>
            <a:endParaRPr kumimoji="1" lang="en-US" altLang="zh-TW" dirty="0">
              <a:solidFill>
                <a:prstClr val="black"/>
              </a:solidFill>
            </a:endParaRPr>
          </a:p>
        </p:txBody>
      </p:sp>
      <p:sp>
        <p:nvSpPr>
          <p:cNvPr id="143376" name="文字方塊 54"/>
          <p:cNvSpPr txBox="1">
            <a:spLocks noChangeArrowheads="1"/>
          </p:cNvSpPr>
          <p:nvPr/>
        </p:nvSpPr>
        <p:spPr bwMode="auto">
          <a:xfrm>
            <a:off x="1524000" y="0"/>
            <a:ext cx="9144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 sz="3200">
                <a:solidFill>
                  <a:prstClr val="black"/>
                </a:solidFill>
              </a:rPr>
              <a:t>Tank </a:t>
            </a:r>
            <a:r>
              <a:rPr lang="zh-TW" altLang="en-US" sz="3200">
                <a:solidFill>
                  <a:prstClr val="black"/>
                </a:solidFill>
              </a:rPr>
              <a:t>不開蓋外部控制系統設計方案</a:t>
            </a:r>
          </a:p>
        </p:txBody>
      </p:sp>
      <p:sp>
        <p:nvSpPr>
          <p:cNvPr id="143377" name="文字方塊 55"/>
          <p:cNvSpPr txBox="1">
            <a:spLocks noChangeArrowheads="1"/>
          </p:cNvSpPr>
          <p:nvPr/>
        </p:nvSpPr>
        <p:spPr bwMode="auto">
          <a:xfrm>
            <a:off x="5826126" y="4941888"/>
            <a:ext cx="70167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TW" altLang="en-US">
                <a:solidFill>
                  <a:prstClr val="black"/>
                </a:solidFill>
              </a:rPr>
              <a:t>網路線直連</a:t>
            </a:r>
            <a:r>
              <a:rPr lang="en-US" altLang="zh-TW">
                <a:solidFill>
                  <a:prstClr val="black"/>
                </a:solidFill>
              </a:rPr>
              <a:t> or Wifi</a:t>
            </a:r>
            <a:endParaRPr lang="zh-TW" altLang="en-US">
              <a:solidFill>
                <a:prstClr val="black"/>
              </a:solidFill>
            </a:endParaRPr>
          </a:p>
        </p:txBody>
      </p:sp>
      <p:cxnSp>
        <p:nvCxnSpPr>
          <p:cNvPr id="33" name="直線單箭頭接點 3"/>
          <p:cNvCxnSpPr/>
          <p:nvPr/>
        </p:nvCxnSpPr>
        <p:spPr>
          <a:xfrm rot="16200000" flipV="1">
            <a:off x="5663406" y="2655094"/>
            <a:ext cx="1296988" cy="971550"/>
          </a:xfrm>
          <a:prstGeom prst="bent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/>
          <p:cNvSpPr txBox="1"/>
          <p:nvPr/>
        </p:nvSpPr>
        <p:spPr>
          <a:xfrm>
            <a:off x="6203951" y="3284538"/>
            <a:ext cx="701675" cy="64611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dirty="0">
                <a:solidFill>
                  <a:prstClr val="black"/>
                </a:solidFill>
              </a:rPr>
              <a:t>1G</a:t>
            </a:r>
            <a:r>
              <a:rPr kumimoji="1" lang="zh-TW" altLang="en-US" dirty="0">
                <a:solidFill>
                  <a:prstClr val="black"/>
                </a:solidFill>
              </a:rPr>
              <a:t>網路</a:t>
            </a:r>
          </a:p>
        </p:txBody>
      </p:sp>
      <p:sp>
        <p:nvSpPr>
          <p:cNvPr id="37" name="文字方塊 36"/>
          <p:cNvSpPr txBox="1"/>
          <p:nvPr/>
        </p:nvSpPr>
        <p:spPr>
          <a:xfrm>
            <a:off x="6419851" y="5013326"/>
            <a:ext cx="701675" cy="64611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dirty="0">
                <a:solidFill>
                  <a:prstClr val="black"/>
                </a:solidFill>
              </a:rPr>
              <a:t>1G</a:t>
            </a:r>
            <a:r>
              <a:rPr kumimoji="1" lang="zh-TW" altLang="en-US" dirty="0">
                <a:solidFill>
                  <a:prstClr val="black"/>
                </a:solidFill>
              </a:rPr>
              <a:t>網路</a:t>
            </a:r>
          </a:p>
        </p:txBody>
      </p:sp>
      <p:sp>
        <p:nvSpPr>
          <p:cNvPr id="143381" name="文字方塊 9"/>
          <p:cNvSpPr txBox="1">
            <a:spLocks noChangeArrowheads="1"/>
          </p:cNvSpPr>
          <p:nvPr/>
        </p:nvSpPr>
        <p:spPr bwMode="auto">
          <a:xfrm>
            <a:off x="7662863" y="3573463"/>
            <a:ext cx="431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 sz="1200">
                <a:solidFill>
                  <a:prstClr val="black"/>
                </a:solidFill>
              </a:rPr>
              <a:t>VGA</a:t>
            </a:r>
            <a:endParaRPr lang="zh-TW" altLang="en-US" sz="1200">
              <a:solidFill>
                <a:prstClr val="black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7716838" y="1773238"/>
            <a:ext cx="647700" cy="576262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zh-TW" altLang="en-US">
              <a:solidFill>
                <a:prstClr val="white"/>
              </a:solidFill>
            </a:endParaRPr>
          </a:p>
        </p:txBody>
      </p:sp>
      <p:pic>
        <p:nvPicPr>
          <p:cNvPr id="143383" name="圖片 12" descr="螢幕截圖 2017-06-22 11.06.24.png"/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D5F3CD"/>
              </a:clrFrom>
              <a:clrTo>
                <a:srgbClr val="D5F3C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4789" y="1773238"/>
            <a:ext cx="42227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矩形 13"/>
          <p:cNvSpPr/>
          <p:nvPr/>
        </p:nvSpPr>
        <p:spPr>
          <a:xfrm>
            <a:off x="7716838" y="2349501"/>
            <a:ext cx="647700" cy="14287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800" dirty="0">
                <a:solidFill>
                  <a:prstClr val="white"/>
                </a:solidFill>
              </a:rPr>
              <a:t>Server 01 Alarm</a:t>
            </a:r>
            <a:endParaRPr kumimoji="1" lang="zh-TW" altLang="en-US" sz="800" dirty="0">
              <a:solidFill>
                <a:prstClr val="white"/>
              </a:solidFill>
            </a:endParaRPr>
          </a:p>
        </p:txBody>
      </p:sp>
      <p:sp>
        <p:nvSpPr>
          <p:cNvPr id="143385" name="文字方塊 5"/>
          <p:cNvSpPr txBox="1">
            <a:spLocks noChangeArrowheads="1"/>
          </p:cNvSpPr>
          <p:nvPr/>
        </p:nvSpPr>
        <p:spPr bwMode="auto">
          <a:xfrm>
            <a:off x="5988050" y="6092826"/>
            <a:ext cx="11874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TW" altLang="en-US">
                <a:solidFill>
                  <a:prstClr val="black"/>
                </a:solidFill>
              </a:rPr>
              <a:t>提供</a:t>
            </a:r>
            <a:r>
              <a:rPr lang="en-US" altLang="zh-TW">
                <a:solidFill>
                  <a:prstClr val="black"/>
                </a:solidFill>
              </a:rPr>
              <a:t>wifi</a:t>
            </a:r>
            <a:r>
              <a:rPr lang="zh-TW" altLang="en-US">
                <a:solidFill>
                  <a:prstClr val="black"/>
                </a:solidFill>
              </a:rPr>
              <a:t>可關閉機制</a:t>
            </a:r>
          </a:p>
        </p:txBody>
      </p:sp>
    </p:spTree>
    <p:extLst>
      <p:ext uri="{BB962C8B-B14F-4D97-AF65-F5344CB8AC3E}">
        <p14:creationId xmlns:p14="http://schemas.microsoft.com/office/powerpoint/2010/main" val="3405623259"/>
      </p:ext>
    </p:extLst>
  </p:cSld>
  <p:clrMapOvr>
    <a:masterClrMapping/>
  </p:clrMapOvr>
  <p:transition xmlns:p14="http://schemas.microsoft.com/office/powerpoint/2010/main">
    <p:blinds dir="vert"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386" name="圖片 4" descr="螢幕截圖 2017-06-30 08.02.25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6876" y="1773238"/>
            <a:ext cx="5942013" cy="461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4387" name="文字方塊 1"/>
          <p:cNvSpPr txBox="1">
            <a:spLocks noChangeArrowheads="1"/>
          </p:cNvSpPr>
          <p:nvPr/>
        </p:nvSpPr>
        <p:spPr bwMode="auto">
          <a:xfrm>
            <a:off x="1524000" y="0"/>
            <a:ext cx="9144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TW" altLang="en-US" sz="3200">
                <a:solidFill>
                  <a:prstClr val="black"/>
                </a:solidFill>
              </a:rPr>
              <a:t>不開蓋外部控制系統主機</a:t>
            </a:r>
            <a:endParaRPr lang="en-US" altLang="zh-TW" sz="3200">
              <a:solidFill>
                <a:prstClr val="black"/>
              </a:solidFill>
            </a:endParaRPr>
          </a:p>
        </p:txBody>
      </p:sp>
      <p:sp>
        <p:nvSpPr>
          <p:cNvPr id="144388" name="文字方塊 17"/>
          <p:cNvSpPr txBox="1">
            <a:spLocks noChangeArrowheads="1"/>
          </p:cNvSpPr>
          <p:nvPr/>
        </p:nvSpPr>
        <p:spPr bwMode="auto">
          <a:xfrm>
            <a:off x="6905626" y="981076"/>
            <a:ext cx="178276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TW" altLang="en-US">
                <a:solidFill>
                  <a:prstClr val="black"/>
                </a:solidFill>
              </a:rPr>
              <a:t>無風扇寬溫微型主機</a:t>
            </a:r>
          </a:p>
        </p:txBody>
      </p:sp>
      <p:sp>
        <p:nvSpPr>
          <p:cNvPr id="144389" name="文字方塊 24"/>
          <p:cNvSpPr txBox="1">
            <a:spLocks noChangeArrowheads="1"/>
          </p:cNvSpPr>
          <p:nvPr/>
        </p:nvSpPr>
        <p:spPr bwMode="auto">
          <a:xfrm>
            <a:off x="3395664" y="4724401"/>
            <a:ext cx="14049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 sz="1400">
                <a:solidFill>
                  <a:srgbClr val="FF0000"/>
                </a:solidFill>
              </a:rPr>
              <a:t>1</a:t>
            </a:r>
            <a:r>
              <a:rPr lang="zh-TW" altLang="en-US" sz="1400">
                <a:solidFill>
                  <a:srgbClr val="FF0000"/>
                </a:solidFill>
              </a:rPr>
              <a:t>路提供控制面板直連</a:t>
            </a:r>
          </a:p>
        </p:txBody>
      </p:sp>
      <p:sp>
        <p:nvSpPr>
          <p:cNvPr id="144390" name="文字方塊 16"/>
          <p:cNvSpPr txBox="1">
            <a:spLocks noChangeArrowheads="1"/>
          </p:cNvSpPr>
          <p:nvPr/>
        </p:nvSpPr>
        <p:spPr bwMode="auto">
          <a:xfrm>
            <a:off x="5718176" y="2492376"/>
            <a:ext cx="1782763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TW" altLang="en-US" sz="1400">
                <a:solidFill>
                  <a:srgbClr val="FF0000"/>
                </a:solidFill>
              </a:rPr>
              <a:t>由阿里方面直接提供</a:t>
            </a:r>
            <a:r>
              <a:rPr lang="en-US" altLang="zh-TW" sz="1400">
                <a:solidFill>
                  <a:srgbClr val="FF0000"/>
                </a:solidFill>
              </a:rPr>
              <a:t>24VDC, </a:t>
            </a:r>
            <a:r>
              <a:rPr lang="zh-TW" altLang="en-US" sz="1400">
                <a:solidFill>
                  <a:srgbClr val="FF0000"/>
                </a:solidFill>
              </a:rPr>
              <a:t>接頭與</a:t>
            </a:r>
            <a:r>
              <a:rPr lang="en-US" altLang="zh-TW" sz="1400">
                <a:solidFill>
                  <a:srgbClr val="FF0000"/>
                </a:solidFill>
              </a:rPr>
              <a:t>10m</a:t>
            </a:r>
            <a:r>
              <a:rPr lang="zh-TW" altLang="en-US" sz="1400">
                <a:solidFill>
                  <a:srgbClr val="FF0000"/>
                </a:solidFill>
              </a:rPr>
              <a:t>線材由主機提供</a:t>
            </a:r>
          </a:p>
        </p:txBody>
      </p:sp>
      <p:sp>
        <p:nvSpPr>
          <p:cNvPr id="8" name="矩形 7"/>
          <p:cNvSpPr/>
          <p:nvPr/>
        </p:nvSpPr>
        <p:spPr>
          <a:xfrm>
            <a:off x="1666875" y="2205038"/>
            <a:ext cx="3024188" cy="2159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zh-TW" altLang="en-US" dirty="0">
              <a:solidFill>
                <a:prstClr val="white"/>
              </a:solidFill>
            </a:endParaRPr>
          </a:p>
        </p:txBody>
      </p:sp>
      <p:pic>
        <p:nvPicPr>
          <p:cNvPr id="144392" name="圖片 3" descr="螢幕截圖 2017-06-30 08.00.01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0F0F1"/>
              </a:clrFrom>
              <a:clrTo>
                <a:srgbClr val="F0F0F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25" y="549275"/>
            <a:ext cx="2374900" cy="118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4393" name="圖片 9" descr="螢幕截圖 2017-06-30 08.05.00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4914" y="3500438"/>
            <a:ext cx="2771775" cy="234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4394" name="圖片 8" descr="螢幕截圖 2017-06-30 08.04.54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3488" y="1773239"/>
            <a:ext cx="3084512" cy="183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4395" name="文字方塊 15"/>
          <p:cNvSpPr txBox="1">
            <a:spLocks noChangeArrowheads="1"/>
          </p:cNvSpPr>
          <p:nvPr/>
        </p:nvSpPr>
        <p:spPr bwMode="auto">
          <a:xfrm>
            <a:off x="8364539" y="1700214"/>
            <a:ext cx="10255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TW" altLang="en-US" sz="1400">
                <a:solidFill>
                  <a:srgbClr val="FF0000"/>
                </a:solidFill>
              </a:rPr>
              <a:t>高度：低於</a:t>
            </a:r>
            <a:r>
              <a:rPr lang="en-US" altLang="zh-TW" sz="1400">
                <a:solidFill>
                  <a:srgbClr val="FF0000"/>
                </a:solidFill>
              </a:rPr>
              <a:t>1U</a:t>
            </a:r>
            <a:endParaRPr lang="zh-TW" altLang="en-US" sz="1400">
              <a:solidFill>
                <a:srgbClr val="FF0000"/>
              </a:solidFill>
            </a:endParaRPr>
          </a:p>
        </p:txBody>
      </p:sp>
      <p:sp>
        <p:nvSpPr>
          <p:cNvPr id="144396" name="文字方塊 13"/>
          <p:cNvSpPr txBox="1">
            <a:spLocks noChangeArrowheads="1"/>
          </p:cNvSpPr>
          <p:nvPr/>
        </p:nvSpPr>
        <p:spPr bwMode="auto">
          <a:xfrm>
            <a:off x="9228138" y="2781300"/>
            <a:ext cx="133191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TW" altLang="en-US" sz="1400">
                <a:solidFill>
                  <a:srgbClr val="FF0000"/>
                </a:solidFill>
              </a:rPr>
              <a:t>環境溫度：</a:t>
            </a:r>
            <a:r>
              <a:rPr lang="en-US" altLang="zh-TW" sz="1400">
                <a:solidFill>
                  <a:srgbClr val="FF0000"/>
                </a:solidFill>
              </a:rPr>
              <a:t>55</a:t>
            </a:r>
            <a:r>
              <a:rPr lang="en-US" altLang="zh-TW" sz="1400" baseline="30000">
                <a:solidFill>
                  <a:srgbClr val="FF0000"/>
                </a:solidFill>
              </a:rPr>
              <a:t>o</a:t>
            </a:r>
            <a:r>
              <a:rPr lang="en-US" altLang="zh-TW" sz="1400">
                <a:solidFill>
                  <a:srgbClr val="FF0000"/>
                </a:solidFill>
              </a:rPr>
              <a:t>C</a:t>
            </a:r>
            <a:r>
              <a:rPr lang="zh-TW" altLang="en-US" sz="1400">
                <a:solidFill>
                  <a:srgbClr val="FF0000"/>
                </a:solidFill>
              </a:rPr>
              <a:t>最高</a:t>
            </a:r>
          </a:p>
        </p:txBody>
      </p:sp>
      <p:sp>
        <p:nvSpPr>
          <p:cNvPr id="144397" name="文字方塊 12"/>
          <p:cNvSpPr txBox="1">
            <a:spLocks noChangeArrowheads="1"/>
          </p:cNvSpPr>
          <p:nvPr/>
        </p:nvSpPr>
        <p:spPr bwMode="auto">
          <a:xfrm>
            <a:off x="2963863" y="5229225"/>
            <a:ext cx="1331912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TW" altLang="en-US" sz="1400">
                <a:solidFill>
                  <a:srgbClr val="FF0000"/>
                </a:solidFill>
              </a:rPr>
              <a:t>提供</a:t>
            </a:r>
            <a:r>
              <a:rPr lang="en-US" altLang="zh-TW" sz="1400">
                <a:solidFill>
                  <a:srgbClr val="FF0000"/>
                </a:solidFill>
              </a:rPr>
              <a:t>nano wifi dongle</a:t>
            </a:r>
            <a:r>
              <a:rPr lang="zh-TW" altLang="en-US" sz="1400">
                <a:solidFill>
                  <a:srgbClr val="FF0000"/>
                </a:solidFill>
              </a:rPr>
              <a:t>，並具備可關閉功能</a:t>
            </a:r>
          </a:p>
        </p:txBody>
      </p:sp>
    </p:spTree>
    <p:extLst>
      <p:ext uri="{BB962C8B-B14F-4D97-AF65-F5344CB8AC3E}">
        <p14:creationId xmlns:p14="http://schemas.microsoft.com/office/powerpoint/2010/main" val="4231448929"/>
      </p:ext>
    </p:extLst>
  </p:cSld>
  <p:clrMapOvr>
    <a:masterClrMapping/>
  </p:clrMapOvr>
  <p:transition xmlns:p14="http://schemas.microsoft.com/office/powerpoint/2010/main">
    <p:blinds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410" name="圖片 12" descr="螢幕截圖 2017-06-09 16.44.34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0351" y="476250"/>
            <a:ext cx="1457325" cy="136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5411" name="文字方塊 1"/>
          <p:cNvSpPr txBox="1">
            <a:spLocks noChangeArrowheads="1"/>
          </p:cNvSpPr>
          <p:nvPr/>
        </p:nvSpPr>
        <p:spPr bwMode="auto">
          <a:xfrm>
            <a:off x="1524000" y="0"/>
            <a:ext cx="9144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TW" altLang="en-US" sz="3200">
                <a:solidFill>
                  <a:prstClr val="black"/>
                </a:solidFill>
              </a:rPr>
              <a:t>不開蓋外部控制系統面板</a:t>
            </a:r>
            <a:endParaRPr lang="en-US" altLang="zh-TW" sz="3200">
              <a:solidFill>
                <a:prstClr val="black"/>
              </a:solidFill>
            </a:endParaRPr>
          </a:p>
        </p:txBody>
      </p:sp>
      <p:pic>
        <p:nvPicPr>
          <p:cNvPr id="145412" name="圖片 11" descr="螢幕截圖 2017-06-09 17.19.33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4239" y="1557338"/>
            <a:ext cx="7667625" cy="517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5413" name="文字方塊 14"/>
          <p:cNvSpPr txBox="1">
            <a:spLocks noChangeArrowheads="1"/>
          </p:cNvSpPr>
          <p:nvPr/>
        </p:nvSpPr>
        <p:spPr bwMode="auto">
          <a:xfrm>
            <a:off x="7013575" y="836614"/>
            <a:ext cx="1296988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>
                <a:solidFill>
                  <a:prstClr val="black"/>
                </a:solidFill>
              </a:rPr>
              <a:t>MS-surface Pro4</a:t>
            </a:r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2721009"/>
      </p:ext>
    </p:extLst>
  </p:cSld>
  <p:clrMapOvr>
    <a:masterClrMapping/>
  </p:clrMapOvr>
  <p:transition xmlns:p14="http://schemas.microsoft.com/office/powerpoint/2010/main">
    <p:blinds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文字方塊 1"/>
          <p:cNvSpPr txBox="1">
            <a:spLocks noChangeArrowheads="1"/>
          </p:cNvSpPr>
          <p:nvPr/>
        </p:nvSpPr>
        <p:spPr bwMode="auto">
          <a:xfrm>
            <a:off x="1524000" y="0"/>
            <a:ext cx="9144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 sz="3200">
                <a:solidFill>
                  <a:prstClr val="black"/>
                </a:solidFill>
              </a:rPr>
              <a:t>Server </a:t>
            </a:r>
            <a:r>
              <a:rPr lang="zh-TW" altLang="en-US" sz="3200">
                <a:solidFill>
                  <a:prstClr val="black"/>
                </a:solidFill>
              </a:rPr>
              <a:t>狀態警示螢幕</a:t>
            </a:r>
          </a:p>
        </p:txBody>
      </p:sp>
      <p:sp>
        <p:nvSpPr>
          <p:cNvPr id="146435" name="文字方塊 9"/>
          <p:cNvSpPr txBox="1">
            <a:spLocks noChangeArrowheads="1"/>
          </p:cNvSpPr>
          <p:nvPr/>
        </p:nvSpPr>
        <p:spPr bwMode="auto">
          <a:xfrm>
            <a:off x="1774825" y="1054100"/>
            <a:ext cx="3295650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TW" altLang="en-US">
                <a:solidFill>
                  <a:prstClr val="black"/>
                </a:solidFill>
              </a:rPr>
              <a:t>經由不開蓋控制主機連接之面板，提供應用程式</a:t>
            </a:r>
            <a:r>
              <a:rPr lang="en-US" altLang="zh-TW">
                <a:solidFill>
                  <a:prstClr val="black"/>
                </a:solidFill>
              </a:rPr>
              <a:t>(</a:t>
            </a:r>
            <a:r>
              <a:rPr lang="zh-TW" altLang="en-US">
                <a:solidFill>
                  <a:prstClr val="black"/>
                </a:solidFill>
              </a:rPr>
              <a:t>富士康開發</a:t>
            </a:r>
            <a:r>
              <a:rPr lang="en-US" altLang="zh-TW">
                <a:solidFill>
                  <a:prstClr val="black"/>
                </a:solidFill>
              </a:rPr>
              <a:t>)</a:t>
            </a:r>
            <a:r>
              <a:rPr lang="zh-TW" altLang="en-US">
                <a:solidFill>
                  <a:prstClr val="black"/>
                </a:solidFill>
              </a:rPr>
              <a:t>連接中繼軟體</a:t>
            </a:r>
            <a:r>
              <a:rPr lang="en-US" altLang="zh-TW">
                <a:solidFill>
                  <a:prstClr val="black"/>
                </a:solidFill>
              </a:rPr>
              <a:t>(</a:t>
            </a:r>
            <a:r>
              <a:rPr lang="zh-TW" altLang="en-US">
                <a:solidFill>
                  <a:prstClr val="black"/>
                </a:solidFill>
              </a:rPr>
              <a:t>富士康開發</a:t>
            </a:r>
            <a:r>
              <a:rPr lang="en-US" altLang="zh-TW">
                <a:solidFill>
                  <a:prstClr val="black"/>
                </a:solidFill>
              </a:rPr>
              <a:t>)</a:t>
            </a:r>
            <a:r>
              <a:rPr lang="zh-TW" altLang="en-US">
                <a:solidFill>
                  <a:prstClr val="black"/>
                </a:solidFill>
              </a:rPr>
              <a:t>觸發告警模式，並以跑馬燈顯示目前告警類別與資訊</a:t>
            </a:r>
            <a:endParaRPr lang="en-US" altLang="zh-TW">
              <a:solidFill>
                <a:prstClr val="black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>
                <a:solidFill>
                  <a:prstClr val="black"/>
                </a:solidFill>
              </a:rPr>
              <a:t>--</a:t>
            </a:r>
            <a:r>
              <a:rPr lang="zh-TW" altLang="en-US">
                <a:solidFill>
                  <a:prstClr val="black"/>
                </a:solidFill>
              </a:rPr>
              <a:t>紅燈</a:t>
            </a:r>
            <a:endParaRPr lang="en-US" altLang="zh-TW">
              <a:solidFill>
                <a:prstClr val="black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>
                <a:solidFill>
                  <a:prstClr val="black"/>
                </a:solidFill>
              </a:rPr>
              <a:t>--</a:t>
            </a:r>
            <a:r>
              <a:rPr lang="zh-TW" altLang="en-US">
                <a:solidFill>
                  <a:prstClr val="black"/>
                </a:solidFill>
              </a:rPr>
              <a:t>黃燈</a:t>
            </a:r>
            <a:endParaRPr lang="en-US" altLang="zh-TW">
              <a:solidFill>
                <a:prstClr val="black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>
                <a:solidFill>
                  <a:prstClr val="black"/>
                </a:solidFill>
              </a:rPr>
              <a:t>--</a:t>
            </a:r>
            <a:r>
              <a:rPr lang="zh-TW" altLang="en-US">
                <a:solidFill>
                  <a:prstClr val="black"/>
                </a:solidFill>
              </a:rPr>
              <a:t>綠燈</a:t>
            </a:r>
            <a:endParaRPr lang="en-US" altLang="zh-TW">
              <a:solidFill>
                <a:prstClr val="black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TW">
              <a:solidFill>
                <a:prstClr val="black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TW">
              <a:solidFill>
                <a:prstClr val="black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TW" altLang="en-US">
                <a:solidFill>
                  <a:prstClr val="black"/>
                </a:solidFill>
              </a:rPr>
              <a:t>可依據不同事件類別進行定義</a:t>
            </a:r>
            <a:endParaRPr lang="en-US" altLang="zh-TW">
              <a:solidFill>
                <a:prstClr val="black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TW" altLang="en-US">
                <a:solidFill>
                  <a:prstClr val="black"/>
                </a:solidFill>
              </a:rPr>
              <a:t>連接介面：</a:t>
            </a:r>
            <a:r>
              <a:rPr lang="en-US" altLang="zh-TW">
                <a:solidFill>
                  <a:prstClr val="black"/>
                </a:solidFill>
              </a:rPr>
              <a:t>VGA </a:t>
            </a:r>
            <a:r>
              <a:rPr lang="zh-TW" altLang="en-US">
                <a:solidFill>
                  <a:prstClr val="black"/>
                </a:solidFill>
              </a:rPr>
              <a:t>接頭</a:t>
            </a:r>
            <a:endParaRPr lang="en-US" altLang="zh-TW">
              <a:solidFill>
                <a:prstClr val="black"/>
              </a:solidFill>
            </a:endParaRPr>
          </a:p>
        </p:txBody>
      </p:sp>
      <p:pic>
        <p:nvPicPr>
          <p:cNvPr id="146436" name="圖片 2" descr="螢幕截圖 2017-06-22 11.21.37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2400" y="1052514"/>
            <a:ext cx="5435600" cy="580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6437" name="圖片 6" descr="螢幕截圖 2017-06-22 11.06.24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1314" y="2349501"/>
            <a:ext cx="688975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6438" name="圖片 7" descr="螢幕截圖 2017-06-22 11.06.29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5339" y="2349501"/>
            <a:ext cx="708025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6439" name="圖片 10" descr="螢幕截圖 2017-06-22 11.06.34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2064" y="2349500"/>
            <a:ext cx="693737" cy="93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矩形 11"/>
          <p:cNvSpPr/>
          <p:nvPr/>
        </p:nvSpPr>
        <p:spPr>
          <a:xfrm>
            <a:off x="2532064" y="3286125"/>
            <a:ext cx="701675" cy="2873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1000" dirty="0">
                <a:solidFill>
                  <a:srgbClr val="FF0000"/>
                </a:solidFill>
              </a:rPr>
              <a:t>Server </a:t>
            </a:r>
            <a:r>
              <a:rPr kumimoji="1" lang="zh-TW" altLang="en-US" sz="1000" dirty="0">
                <a:solidFill>
                  <a:srgbClr val="FF0000"/>
                </a:solidFill>
              </a:rPr>
              <a:t>風扇故障</a:t>
            </a:r>
          </a:p>
        </p:txBody>
      </p:sp>
      <p:sp>
        <p:nvSpPr>
          <p:cNvPr id="13" name="矩形 12"/>
          <p:cNvSpPr/>
          <p:nvPr/>
        </p:nvSpPr>
        <p:spPr>
          <a:xfrm>
            <a:off x="3341689" y="3286125"/>
            <a:ext cx="701675" cy="28733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sz="1000" dirty="0">
                <a:solidFill>
                  <a:srgbClr val="8064A2"/>
                </a:solidFill>
              </a:rPr>
              <a:t>Server </a:t>
            </a:r>
            <a:r>
              <a:rPr kumimoji="1" lang="zh-TW" altLang="en-US" sz="1000" dirty="0">
                <a:solidFill>
                  <a:srgbClr val="8064A2"/>
                </a:solidFill>
              </a:rPr>
              <a:t>溫度偏高</a:t>
            </a:r>
          </a:p>
        </p:txBody>
      </p:sp>
      <p:sp>
        <p:nvSpPr>
          <p:cNvPr id="14" name="矩形 13"/>
          <p:cNvSpPr/>
          <p:nvPr/>
        </p:nvSpPr>
        <p:spPr>
          <a:xfrm>
            <a:off x="4151313" y="3286125"/>
            <a:ext cx="703262" cy="28733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TW" altLang="en-US" sz="1000" dirty="0">
                <a:solidFill>
                  <a:srgbClr val="F79646"/>
                </a:solidFill>
              </a:rPr>
              <a:t>一切正常運轉</a:t>
            </a:r>
          </a:p>
        </p:txBody>
      </p:sp>
      <p:pic>
        <p:nvPicPr>
          <p:cNvPr id="146443" name="圖片 14" descr="螢幕截圖 2017-06-22 11.40.43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6750" y="4365625"/>
            <a:ext cx="552450" cy="2205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6444" name="文字方塊 16"/>
          <p:cNvSpPr txBox="1">
            <a:spLocks noChangeArrowheads="1"/>
          </p:cNvSpPr>
          <p:nvPr/>
        </p:nvSpPr>
        <p:spPr bwMode="auto">
          <a:xfrm>
            <a:off x="6635751" y="3716339"/>
            <a:ext cx="1782763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TW" altLang="en-US" sz="1400">
                <a:solidFill>
                  <a:srgbClr val="FF0000"/>
                </a:solidFill>
              </a:rPr>
              <a:t>由阿里方面直接提供</a:t>
            </a:r>
            <a:r>
              <a:rPr lang="en-US" altLang="zh-TW" sz="1400">
                <a:solidFill>
                  <a:srgbClr val="FF0000"/>
                </a:solidFill>
              </a:rPr>
              <a:t>DC 12V, </a:t>
            </a:r>
            <a:r>
              <a:rPr lang="zh-TW" altLang="en-US" sz="1400">
                <a:solidFill>
                  <a:srgbClr val="FF0000"/>
                </a:solidFill>
              </a:rPr>
              <a:t>接頭由螢幕提供</a:t>
            </a:r>
          </a:p>
        </p:txBody>
      </p:sp>
      <p:sp>
        <p:nvSpPr>
          <p:cNvPr id="146445" name="文字方塊 17"/>
          <p:cNvSpPr txBox="1">
            <a:spLocks noChangeArrowheads="1"/>
          </p:cNvSpPr>
          <p:nvPr/>
        </p:nvSpPr>
        <p:spPr bwMode="auto">
          <a:xfrm>
            <a:off x="2586039" y="4437063"/>
            <a:ext cx="248443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TW" altLang="en-US">
                <a:solidFill>
                  <a:prstClr val="black"/>
                </a:solidFill>
              </a:rPr>
              <a:t>面板擺放於</a:t>
            </a:r>
            <a:r>
              <a:rPr lang="en-US" altLang="zh-TW">
                <a:solidFill>
                  <a:prstClr val="black"/>
                </a:solidFill>
              </a:rPr>
              <a:t>Tank </a:t>
            </a:r>
            <a:r>
              <a:rPr lang="zh-TW" altLang="en-US">
                <a:solidFill>
                  <a:prstClr val="black"/>
                </a:solidFill>
              </a:rPr>
              <a:t>旁</a:t>
            </a:r>
            <a:r>
              <a:rPr lang="en-US" altLang="zh-TW">
                <a:solidFill>
                  <a:prstClr val="black"/>
                </a:solidFill>
              </a:rPr>
              <a:t>10CM</a:t>
            </a:r>
            <a:r>
              <a:rPr lang="zh-TW" altLang="en-US">
                <a:solidFill>
                  <a:prstClr val="black"/>
                </a:solidFill>
              </a:rPr>
              <a:t>距離，立支柱</a:t>
            </a:r>
            <a:r>
              <a:rPr lang="en-US" altLang="zh-TW">
                <a:solidFill>
                  <a:prstClr val="black"/>
                </a:solidFill>
              </a:rPr>
              <a:t>150 CM</a:t>
            </a:r>
            <a:r>
              <a:rPr lang="zh-TW" altLang="en-US">
                <a:solidFill>
                  <a:prstClr val="black"/>
                </a:solidFill>
              </a:rPr>
              <a:t>高，鎖上固定，斜面</a:t>
            </a:r>
            <a:r>
              <a:rPr lang="en-US" altLang="zh-TW">
                <a:solidFill>
                  <a:prstClr val="black"/>
                </a:solidFill>
              </a:rPr>
              <a:t>45</a:t>
            </a:r>
            <a:r>
              <a:rPr lang="zh-TW" altLang="en-US">
                <a:solidFill>
                  <a:prstClr val="black"/>
                </a:solidFill>
              </a:rPr>
              <a:t>度</a:t>
            </a:r>
          </a:p>
        </p:txBody>
      </p:sp>
    </p:spTree>
    <p:extLst>
      <p:ext uri="{BB962C8B-B14F-4D97-AF65-F5344CB8AC3E}">
        <p14:creationId xmlns:p14="http://schemas.microsoft.com/office/powerpoint/2010/main" val="3703436601"/>
      </p:ext>
    </p:extLst>
  </p:cSld>
  <p:clrMapOvr>
    <a:masterClrMapping/>
  </p:clrMapOvr>
  <p:transition xmlns:p14="http://schemas.microsoft.com/office/powerpoint/2010/main">
    <p:blinds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文字方塊 1"/>
          <p:cNvSpPr txBox="1">
            <a:spLocks noChangeArrowheads="1"/>
          </p:cNvSpPr>
          <p:nvPr/>
        </p:nvSpPr>
        <p:spPr bwMode="auto">
          <a:xfrm>
            <a:off x="1524000" y="0"/>
            <a:ext cx="9144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TW" altLang="en-US" sz="3200">
                <a:solidFill>
                  <a:prstClr val="black"/>
                </a:solidFill>
              </a:rPr>
              <a:t>不開蓋外部控制系統</a:t>
            </a:r>
            <a:r>
              <a:rPr lang="en-US" altLang="zh-TW" sz="3200">
                <a:solidFill>
                  <a:prstClr val="black"/>
                </a:solidFill>
              </a:rPr>
              <a:t>—</a:t>
            </a:r>
            <a:r>
              <a:rPr lang="zh-TW" altLang="en-US" sz="3200">
                <a:solidFill>
                  <a:prstClr val="black"/>
                </a:solidFill>
              </a:rPr>
              <a:t>功能說明</a:t>
            </a:r>
          </a:p>
        </p:txBody>
      </p:sp>
      <p:sp>
        <p:nvSpPr>
          <p:cNvPr id="147459" name="文字方塊 2"/>
          <p:cNvSpPr txBox="1">
            <a:spLocks noChangeArrowheads="1"/>
          </p:cNvSpPr>
          <p:nvPr/>
        </p:nvSpPr>
        <p:spPr bwMode="auto">
          <a:xfrm>
            <a:off x="1524000" y="620714"/>
            <a:ext cx="9144000" cy="630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800100" indent="-3429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257300" indent="-3429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TW" altLang="en-US" sz="1600" dirty="0">
                <a:solidFill>
                  <a:prstClr val="black"/>
                </a:solidFill>
              </a:rPr>
              <a:t>作業系統：</a:t>
            </a:r>
            <a:r>
              <a:rPr lang="en-US" altLang="zh-TW" sz="1600" dirty="0">
                <a:solidFill>
                  <a:prstClr val="black"/>
                </a:solidFill>
              </a:rPr>
              <a:t>Linux </a:t>
            </a:r>
            <a:r>
              <a:rPr lang="en-US" altLang="zh-TW" sz="1600" dirty="0" err="1">
                <a:solidFill>
                  <a:prstClr val="black"/>
                </a:solidFill>
              </a:rPr>
              <a:t>CentOS</a:t>
            </a:r>
            <a:r>
              <a:rPr lang="en-US" altLang="zh-TW" sz="1600" dirty="0">
                <a:solidFill>
                  <a:prstClr val="black"/>
                </a:solidFill>
              </a:rPr>
              <a:t> 7.0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TW" sz="1600" dirty="0">
                <a:solidFill>
                  <a:prstClr val="black"/>
                </a:solidFill>
              </a:rPr>
              <a:t>Server </a:t>
            </a:r>
            <a:r>
              <a:rPr lang="zh-TW" altLang="en-US" sz="1600" dirty="0">
                <a:solidFill>
                  <a:prstClr val="black"/>
                </a:solidFill>
              </a:rPr>
              <a:t>資訊連接介面：</a:t>
            </a:r>
            <a:r>
              <a:rPr lang="en-US" altLang="zh-TW" sz="1600" dirty="0">
                <a:solidFill>
                  <a:prstClr val="black"/>
                </a:solidFill>
              </a:rPr>
              <a:t>IPMI/BMC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TW" altLang="en-US" sz="1600" dirty="0">
                <a:solidFill>
                  <a:prstClr val="black"/>
                </a:solidFill>
              </a:rPr>
              <a:t>資料儲存：</a:t>
            </a:r>
            <a:r>
              <a:rPr lang="en-US" altLang="zh-TW" sz="1600" dirty="0">
                <a:solidFill>
                  <a:prstClr val="black"/>
                </a:solidFill>
              </a:rPr>
              <a:t>Maria Data base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TW" altLang="en-US" sz="1600" dirty="0">
                <a:solidFill>
                  <a:prstClr val="black"/>
                </a:solidFill>
              </a:rPr>
              <a:t>系統架構：網頁系統</a:t>
            </a:r>
            <a:endParaRPr lang="en-US" altLang="zh-TW" sz="1600" dirty="0">
              <a:solidFill>
                <a:prstClr val="black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TW" altLang="en-US" sz="1600" dirty="0">
                <a:solidFill>
                  <a:prstClr val="black"/>
                </a:solidFill>
              </a:rPr>
              <a:t>支援瀏覽器：</a:t>
            </a:r>
            <a:r>
              <a:rPr lang="en-US" altLang="zh-TW" sz="1600" dirty="0">
                <a:solidFill>
                  <a:prstClr val="black"/>
                </a:solidFill>
              </a:rPr>
              <a:t>Chrome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TW" altLang="en-US" sz="1600" dirty="0">
                <a:solidFill>
                  <a:prstClr val="black"/>
                </a:solidFill>
              </a:rPr>
              <a:t>功能描述：</a:t>
            </a:r>
            <a:endParaRPr lang="en-US" altLang="zh-TW" sz="1600" dirty="0">
              <a:solidFill>
                <a:prstClr val="black"/>
              </a:solidFill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prstClr val="black"/>
                </a:solidFill>
              </a:rPr>
              <a:t>圖形化控制界面</a:t>
            </a:r>
            <a:endParaRPr lang="en-US" altLang="zh-TW" sz="1400" dirty="0">
              <a:solidFill>
                <a:prstClr val="black"/>
              </a:solidFill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TW" sz="1400" dirty="0">
                <a:solidFill>
                  <a:prstClr val="black"/>
                </a:solidFill>
              </a:rPr>
              <a:t>Server </a:t>
            </a:r>
            <a:r>
              <a:rPr lang="zh-TW" altLang="en-US" sz="1400" dirty="0">
                <a:solidFill>
                  <a:prstClr val="black"/>
                </a:solidFill>
              </a:rPr>
              <a:t>基本資訊登入：位置，型號與</a:t>
            </a:r>
            <a:r>
              <a:rPr lang="en-US" altLang="zh-TW" sz="1400" dirty="0">
                <a:solidFill>
                  <a:prstClr val="black"/>
                </a:solidFill>
              </a:rPr>
              <a:t>DHCP IP</a:t>
            </a:r>
            <a:r>
              <a:rPr lang="zh-TW" altLang="en-US" sz="1400" dirty="0">
                <a:solidFill>
                  <a:prstClr val="black"/>
                </a:solidFill>
              </a:rPr>
              <a:t>擷取</a:t>
            </a:r>
            <a:endParaRPr lang="en-US" altLang="zh-TW" sz="1400" dirty="0">
              <a:solidFill>
                <a:prstClr val="black"/>
              </a:solidFill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prstClr val="black"/>
                </a:solidFill>
              </a:rPr>
              <a:t>帳號登入權限管理，依據帳號區分為管理者與使用者</a:t>
            </a:r>
            <a:endParaRPr lang="en-US" altLang="zh-TW" sz="1400" dirty="0">
              <a:solidFill>
                <a:prstClr val="black"/>
              </a:solidFill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 typeface="Symbol" panose="05050102010706020507" pitchFamily="18" charset="2"/>
              <a:buChar char="-"/>
            </a:pPr>
            <a:r>
              <a:rPr lang="zh-TW" altLang="en-US" sz="1400" dirty="0">
                <a:solidFill>
                  <a:prstClr val="black"/>
                </a:solidFill>
              </a:rPr>
              <a:t>管理者：具備所有設備設定與控制功能</a:t>
            </a:r>
            <a:endParaRPr lang="en-US" altLang="zh-TW" sz="1400" dirty="0">
              <a:solidFill>
                <a:prstClr val="black"/>
              </a:solidFill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 typeface="Symbol" panose="05050102010706020507" pitchFamily="18" charset="2"/>
              <a:buChar char="-"/>
            </a:pPr>
            <a:r>
              <a:rPr lang="zh-TW" altLang="en-US" sz="1400" dirty="0">
                <a:solidFill>
                  <a:prstClr val="black"/>
                </a:solidFill>
              </a:rPr>
              <a:t>使用者：具備所以設備數值監看功能</a:t>
            </a:r>
            <a:endParaRPr lang="en-US" altLang="zh-TW" sz="1400" dirty="0">
              <a:solidFill>
                <a:prstClr val="black"/>
              </a:solidFill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 typeface="Symbol" panose="05050102010706020507" pitchFamily="18" charset="2"/>
              <a:buChar char="-"/>
            </a:pPr>
            <a:r>
              <a:rPr lang="zh-TW" altLang="en-US" sz="1400" dirty="0">
                <a:solidFill>
                  <a:prstClr val="black"/>
                </a:solidFill>
              </a:rPr>
              <a:t>登入安全性：帳號登入後，超過</a:t>
            </a:r>
            <a:r>
              <a:rPr lang="en-US" altLang="zh-TW" sz="1400" dirty="0">
                <a:solidFill>
                  <a:prstClr val="black"/>
                </a:solidFill>
              </a:rPr>
              <a:t>5</a:t>
            </a:r>
            <a:r>
              <a:rPr lang="zh-TW" altLang="en-US" sz="1400" dirty="0">
                <a:solidFill>
                  <a:prstClr val="black"/>
                </a:solidFill>
              </a:rPr>
              <a:t>分鐘沒動作，自動登出</a:t>
            </a:r>
            <a:endParaRPr lang="en-US" altLang="zh-TW" sz="1400" dirty="0">
              <a:solidFill>
                <a:prstClr val="black"/>
              </a:solidFill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 typeface="Symbol" panose="05050102010706020507" pitchFamily="18" charset="2"/>
              <a:buChar char="-"/>
            </a:pPr>
            <a:r>
              <a:rPr lang="zh-TW" altLang="en-US" sz="1400" dirty="0">
                <a:solidFill>
                  <a:prstClr val="black"/>
                </a:solidFill>
              </a:rPr>
              <a:t>操作記錄：帳號登入時間，與設定內容之過程，完整紀錄並可查詢</a:t>
            </a:r>
            <a:endParaRPr lang="en-US" altLang="zh-TW" sz="1400" dirty="0">
              <a:solidFill>
                <a:prstClr val="black"/>
              </a:solidFill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TW" sz="1400" dirty="0">
                <a:solidFill>
                  <a:prstClr val="black"/>
                </a:solidFill>
              </a:rPr>
              <a:t>Server BMC</a:t>
            </a:r>
            <a:r>
              <a:rPr lang="zh-TW" altLang="en-US" sz="1400" dirty="0">
                <a:solidFill>
                  <a:prstClr val="black"/>
                </a:solidFill>
              </a:rPr>
              <a:t>資訊擷取與暫存</a:t>
            </a:r>
            <a:endParaRPr lang="en-US" altLang="zh-TW" sz="1400" dirty="0">
              <a:solidFill>
                <a:prstClr val="black"/>
              </a:solidFill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 typeface="Symbol" panose="05050102010706020507" pitchFamily="18" charset="2"/>
              <a:buChar char="-"/>
            </a:pPr>
            <a:r>
              <a:rPr lang="zh-TW" altLang="en-US" sz="1400" dirty="0">
                <a:solidFill>
                  <a:prstClr val="black"/>
                </a:solidFill>
              </a:rPr>
              <a:t>透過</a:t>
            </a:r>
            <a:r>
              <a:rPr lang="en-US" altLang="zh-TW" sz="1400" dirty="0">
                <a:solidFill>
                  <a:prstClr val="black"/>
                </a:solidFill>
              </a:rPr>
              <a:t>BMC(</a:t>
            </a:r>
            <a:r>
              <a:rPr lang="zh-TW" altLang="en-US" sz="1400" dirty="0">
                <a:solidFill>
                  <a:prstClr val="black"/>
                </a:solidFill>
              </a:rPr>
              <a:t>帶外網路</a:t>
            </a:r>
            <a:r>
              <a:rPr lang="en-US" altLang="zh-TW" sz="1400" dirty="0">
                <a:solidFill>
                  <a:prstClr val="black"/>
                </a:solidFill>
              </a:rPr>
              <a:t>)</a:t>
            </a:r>
            <a:r>
              <a:rPr lang="zh-TW" altLang="en-US" sz="1400" dirty="0">
                <a:solidFill>
                  <a:prstClr val="black"/>
                </a:solidFill>
              </a:rPr>
              <a:t>取得</a:t>
            </a:r>
            <a:r>
              <a:rPr lang="en-US" altLang="zh-TW" sz="1400" dirty="0">
                <a:solidFill>
                  <a:prstClr val="black"/>
                </a:solidFill>
              </a:rPr>
              <a:t>Server</a:t>
            </a:r>
            <a:r>
              <a:rPr lang="zh-TW" altLang="en-US" sz="1400" dirty="0">
                <a:solidFill>
                  <a:prstClr val="black"/>
                </a:solidFill>
              </a:rPr>
              <a:t>內部資訊</a:t>
            </a:r>
            <a:r>
              <a:rPr lang="en-US" altLang="zh-TW" sz="1400" dirty="0">
                <a:solidFill>
                  <a:prstClr val="black"/>
                </a:solidFill>
              </a:rPr>
              <a:t>(</a:t>
            </a:r>
            <a:r>
              <a:rPr lang="zh-TW" altLang="en-US" sz="1400" dirty="0">
                <a:solidFill>
                  <a:prstClr val="black"/>
                </a:solidFill>
              </a:rPr>
              <a:t>詳細資訊</a:t>
            </a:r>
            <a:r>
              <a:rPr lang="en-US" altLang="zh-TW" sz="1400" dirty="0">
                <a:solidFill>
                  <a:prstClr val="black"/>
                </a:solidFill>
              </a:rPr>
              <a:t>TBD, </a:t>
            </a:r>
            <a:r>
              <a:rPr lang="zh-TW" altLang="en-US" sz="1400" dirty="0">
                <a:solidFill>
                  <a:prstClr val="black"/>
                </a:solidFill>
              </a:rPr>
              <a:t>已與</a:t>
            </a:r>
            <a:r>
              <a:rPr lang="en-US" altLang="zh-TW" sz="1400" dirty="0">
                <a:solidFill>
                  <a:prstClr val="black"/>
                </a:solidFill>
              </a:rPr>
              <a:t>Server Team</a:t>
            </a:r>
            <a:r>
              <a:rPr lang="zh-TW" altLang="en-US" sz="1400" dirty="0">
                <a:solidFill>
                  <a:prstClr val="black"/>
                </a:solidFill>
              </a:rPr>
              <a:t>討論中</a:t>
            </a:r>
            <a:r>
              <a:rPr lang="en-US" altLang="zh-TW" sz="1400" dirty="0">
                <a:solidFill>
                  <a:prstClr val="black"/>
                </a:solidFill>
              </a:rPr>
              <a:t>, </a:t>
            </a:r>
            <a:r>
              <a:rPr lang="zh-TW" altLang="en-US" sz="1400" dirty="0">
                <a:solidFill>
                  <a:prstClr val="black"/>
                </a:solidFill>
              </a:rPr>
              <a:t>預計</a:t>
            </a:r>
            <a:r>
              <a:rPr lang="en-US" altLang="zh-TW" sz="1400" dirty="0">
                <a:solidFill>
                  <a:prstClr val="black"/>
                </a:solidFill>
              </a:rPr>
              <a:t>7/4</a:t>
            </a:r>
            <a:r>
              <a:rPr lang="zh-TW" altLang="en-US" sz="1400" dirty="0">
                <a:solidFill>
                  <a:prstClr val="black"/>
                </a:solidFill>
              </a:rPr>
              <a:t>提供</a:t>
            </a:r>
            <a:r>
              <a:rPr lang="en-US" altLang="zh-TW" sz="1400" dirty="0">
                <a:solidFill>
                  <a:prstClr val="black"/>
                </a:solidFill>
              </a:rPr>
              <a:t>)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 typeface="Symbol" panose="05050102010706020507" pitchFamily="18" charset="2"/>
              <a:buChar char="-"/>
            </a:pPr>
            <a:r>
              <a:rPr lang="en-US" altLang="zh-TW" sz="1400" dirty="0">
                <a:solidFill>
                  <a:prstClr val="black"/>
                </a:solidFill>
              </a:rPr>
              <a:t>Server BMC</a:t>
            </a:r>
            <a:r>
              <a:rPr lang="zh-TW" altLang="en-US" sz="1400" dirty="0">
                <a:solidFill>
                  <a:prstClr val="black"/>
                </a:solidFill>
              </a:rPr>
              <a:t>資訊暫存</a:t>
            </a:r>
            <a:r>
              <a:rPr lang="en-US" altLang="zh-TW" sz="1400" dirty="0">
                <a:solidFill>
                  <a:prstClr val="black"/>
                </a:solidFill>
              </a:rPr>
              <a:t>1</a:t>
            </a:r>
            <a:r>
              <a:rPr lang="zh-TW" altLang="en-US" sz="1400" dirty="0">
                <a:solidFill>
                  <a:prstClr val="black"/>
                </a:solidFill>
              </a:rPr>
              <a:t>週</a:t>
            </a:r>
            <a:endParaRPr lang="en-US" altLang="zh-TW" sz="1400" dirty="0">
              <a:solidFill>
                <a:prstClr val="black"/>
              </a:solidFill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prstClr val="black"/>
                </a:solidFill>
              </a:rPr>
              <a:t>摘要顯示</a:t>
            </a:r>
            <a:r>
              <a:rPr lang="en-US" altLang="zh-TW" sz="1400" dirty="0">
                <a:solidFill>
                  <a:prstClr val="black"/>
                </a:solidFill>
              </a:rPr>
              <a:t>Tank</a:t>
            </a:r>
            <a:r>
              <a:rPr lang="zh-TW" altLang="en-US" sz="1400" dirty="0">
                <a:solidFill>
                  <a:prstClr val="black"/>
                </a:solidFill>
              </a:rPr>
              <a:t>內各</a:t>
            </a:r>
            <a:r>
              <a:rPr lang="en-US" altLang="zh-TW" sz="1400" dirty="0">
                <a:solidFill>
                  <a:prstClr val="black"/>
                </a:solidFill>
              </a:rPr>
              <a:t>Server</a:t>
            </a:r>
            <a:r>
              <a:rPr lang="zh-TW" altLang="en-US" sz="1400" dirty="0">
                <a:solidFill>
                  <a:prstClr val="black"/>
                </a:solidFill>
              </a:rPr>
              <a:t>健康狀態資訊</a:t>
            </a:r>
            <a:endParaRPr lang="en-US" altLang="zh-TW" sz="1400" dirty="0">
              <a:solidFill>
                <a:prstClr val="black"/>
              </a:solidFill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prstClr val="black"/>
                </a:solidFill>
              </a:rPr>
              <a:t>提供</a:t>
            </a:r>
            <a:r>
              <a:rPr lang="en-US" altLang="zh-TW" sz="1400" dirty="0">
                <a:solidFill>
                  <a:prstClr val="black"/>
                </a:solidFill>
              </a:rPr>
              <a:t>Server</a:t>
            </a:r>
            <a:r>
              <a:rPr lang="zh-TW" altLang="en-US" sz="1400" dirty="0">
                <a:solidFill>
                  <a:prstClr val="black"/>
                </a:solidFill>
              </a:rPr>
              <a:t>重啟功能</a:t>
            </a:r>
            <a:endParaRPr lang="en-US" altLang="zh-TW" sz="1400" dirty="0">
              <a:solidFill>
                <a:prstClr val="black"/>
              </a:solidFill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 typeface="Symbol" panose="05050102010706020507" pitchFamily="18" charset="2"/>
              <a:buChar char="-"/>
            </a:pPr>
            <a:r>
              <a:rPr lang="zh-TW" altLang="en-US" sz="1400" dirty="0">
                <a:solidFill>
                  <a:prstClr val="black"/>
                </a:solidFill>
              </a:rPr>
              <a:t>完整紀錄</a:t>
            </a:r>
            <a:r>
              <a:rPr lang="en-US" altLang="zh-TW" sz="1400" dirty="0">
                <a:solidFill>
                  <a:prstClr val="black"/>
                </a:solidFill>
              </a:rPr>
              <a:t>Server</a:t>
            </a:r>
            <a:r>
              <a:rPr lang="zh-TW" altLang="en-US" sz="1400" dirty="0">
                <a:solidFill>
                  <a:prstClr val="black"/>
                </a:solidFill>
              </a:rPr>
              <a:t>重啟時間</a:t>
            </a:r>
            <a:endParaRPr lang="en-US" altLang="zh-TW" sz="1400" dirty="0">
              <a:solidFill>
                <a:prstClr val="black"/>
              </a:solidFill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TW" sz="1400" dirty="0">
                <a:solidFill>
                  <a:prstClr val="black"/>
                </a:solidFill>
              </a:rPr>
              <a:t>Server BMC</a:t>
            </a:r>
            <a:r>
              <a:rPr lang="zh-TW" altLang="en-US" sz="1400" dirty="0">
                <a:solidFill>
                  <a:prstClr val="black"/>
                </a:solidFill>
              </a:rPr>
              <a:t>事件完整紀錄</a:t>
            </a:r>
            <a:endParaRPr lang="en-US" altLang="zh-TW" sz="1400" dirty="0">
              <a:solidFill>
                <a:prstClr val="black"/>
              </a:solidFill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 typeface="Symbol" panose="05050102010706020507" pitchFamily="18" charset="2"/>
              <a:buChar char="-"/>
            </a:pPr>
            <a:r>
              <a:rPr lang="en-US" altLang="zh-TW" sz="1400" dirty="0">
                <a:solidFill>
                  <a:prstClr val="black"/>
                </a:solidFill>
              </a:rPr>
              <a:t>BMC</a:t>
            </a:r>
            <a:r>
              <a:rPr lang="zh-TW" altLang="en-US" sz="1400" dirty="0">
                <a:solidFill>
                  <a:prstClr val="black"/>
                </a:solidFill>
              </a:rPr>
              <a:t>事件記錄暫存</a:t>
            </a:r>
            <a:r>
              <a:rPr lang="en-US" altLang="zh-TW" sz="1400" dirty="0">
                <a:solidFill>
                  <a:prstClr val="black"/>
                </a:solidFill>
              </a:rPr>
              <a:t>1</a:t>
            </a:r>
            <a:r>
              <a:rPr lang="zh-TW" altLang="en-US" sz="1400" dirty="0">
                <a:solidFill>
                  <a:prstClr val="black"/>
                </a:solidFill>
              </a:rPr>
              <a:t>個月</a:t>
            </a:r>
            <a:endParaRPr lang="en-US" altLang="zh-TW" sz="1400" dirty="0">
              <a:solidFill>
                <a:prstClr val="black"/>
              </a:solidFill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prstClr val="black"/>
                </a:solidFill>
              </a:rPr>
              <a:t>告警數值範圍設定</a:t>
            </a:r>
            <a:endParaRPr lang="en-US" altLang="zh-TW" sz="1400" dirty="0">
              <a:solidFill>
                <a:prstClr val="black"/>
              </a:solidFill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 typeface="Symbol" panose="05050102010706020507" pitchFamily="18" charset="2"/>
              <a:buChar char="-"/>
            </a:pPr>
            <a:r>
              <a:rPr lang="zh-TW" altLang="en-US" sz="1400" dirty="0">
                <a:solidFill>
                  <a:prstClr val="black"/>
                </a:solidFill>
              </a:rPr>
              <a:t>提供介面進行各項數值告警值設定</a:t>
            </a:r>
            <a:endParaRPr lang="en-US" altLang="zh-TW" sz="1400" dirty="0">
              <a:solidFill>
                <a:prstClr val="black"/>
              </a:solidFill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TW" sz="1400" dirty="0">
                <a:solidFill>
                  <a:prstClr val="black"/>
                </a:solidFill>
              </a:rPr>
              <a:t>DHCP IP</a:t>
            </a:r>
            <a:r>
              <a:rPr lang="zh-TW" altLang="en-US" sz="1400" dirty="0">
                <a:solidFill>
                  <a:prstClr val="black"/>
                </a:solidFill>
              </a:rPr>
              <a:t>功能整合</a:t>
            </a:r>
            <a:endParaRPr lang="en-US" altLang="zh-TW" sz="1400" dirty="0">
              <a:solidFill>
                <a:prstClr val="black"/>
              </a:solidFill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 typeface="Symbol" panose="05050102010706020507" pitchFamily="18" charset="2"/>
              <a:buChar char="-"/>
            </a:pPr>
            <a:r>
              <a:rPr lang="zh-TW" altLang="en-US" sz="1400" dirty="0">
                <a:solidFill>
                  <a:prstClr val="black"/>
                </a:solidFill>
              </a:rPr>
              <a:t>整合</a:t>
            </a:r>
            <a:r>
              <a:rPr lang="en-US" altLang="zh-TW" sz="1400" dirty="0">
                <a:solidFill>
                  <a:prstClr val="black"/>
                </a:solidFill>
              </a:rPr>
              <a:t>DHCP Server IP </a:t>
            </a:r>
            <a:r>
              <a:rPr lang="zh-TW" altLang="en-US" sz="1400" dirty="0">
                <a:solidFill>
                  <a:prstClr val="black"/>
                </a:solidFill>
              </a:rPr>
              <a:t>配置功能，可由</a:t>
            </a:r>
            <a:r>
              <a:rPr lang="en-US" altLang="zh-TW" sz="1400" dirty="0">
                <a:solidFill>
                  <a:prstClr val="black"/>
                </a:solidFill>
              </a:rPr>
              <a:t>MAC address</a:t>
            </a:r>
            <a:r>
              <a:rPr lang="zh-TW" altLang="en-US" sz="1400" dirty="0">
                <a:solidFill>
                  <a:prstClr val="black"/>
                </a:solidFill>
              </a:rPr>
              <a:t>反查</a:t>
            </a:r>
            <a:r>
              <a:rPr lang="en-US" altLang="zh-TW" sz="1400" dirty="0">
                <a:solidFill>
                  <a:prstClr val="black"/>
                </a:solidFill>
              </a:rPr>
              <a:t>IP </a:t>
            </a:r>
            <a:r>
              <a:rPr lang="zh-TW" altLang="en-US" sz="1400" dirty="0">
                <a:solidFill>
                  <a:prstClr val="black"/>
                </a:solidFill>
              </a:rPr>
              <a:t>，並具備更換通知功能</a:t>
            </a:r>
            <a:endParaRPr lang="en-US" altLang="zh-TW" sz="1400" dirty="0">
              <a:solidFill>
                <a:prstClr val="black"/>
              </a:solidFill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prstClr val="black"/>
                </a:solidFill>
              </a:rPr>
              <a:t>具備觸控操作之圖像設計與功能</a:t>
            </a:r>
            <a:endParaRPr lang="en-US" altLang="zh-TW" sz="1400" dirty="0">
              <a:solidFill>
                <a:prstClr val="black"/>
              </a:solidFill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prstClr val="black"/>
                </a:solidFill>
              </a:rPr>
              <a:t>提供中繼軟體介面供阿里進行遠端</a:t>
            </a:r>
            <a:r>
              <a:rPr lang="en-US" altLang="zh-TW" sz="1400" dirty="0">
                <a:solidFill>
                  <a:prstClr val="black"/>
                </a:solidFill>
              </a:rPr>
              <a:t>Server </a:t>
            </a:r>
            <a:r>
              <a:rPr lang="zh-TW" altLang="en-US" sz="1400" dirty="0">
                <a:solidFill>
                  <a:prstClr val="black"/>
                </a:solidFill>
              </a:rPr>
              <a:t>狀態警示螢幕告警應用</a:t>
            </a:r>
            <a:r>
              <a:rPr lang="en-US" altLang="zh-TW" sz="1400" dirty="0">
                <a:solidFill>
                  <a:prstClr val="black"/>
                </a:solidFill>
              </a:rPr>
              <a:t>(</a:t>
            </a:r>
            <a:r>
              <a:rPr lang="zh-TW" altLang="en-US" sz="1400" dirty="0">
                <a:solidFill>
                  <a:prstClr val="black"/>
                </a:solidFill>
              </a:rPr>
              <a:t>介接環控介面</a:t>
            </a:r>
            <a:r>
              <a:rPr lang="en-US" altLang="zh-TW" sz="1400" dirty="0">
                <a:solidFill>
                  <a:prstClr val="black"/>
                </a:solidFill>
              </a:rPr>
              <a:t>)</a:t>
            </a:r>
            <a:endParaRPr lang="zh-TW" altLang="en-US" sz="14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3415688"/>
      </p:ext>
    </p:extLst>
  </p:cSld>
  <p:clrMapOvr>
    <a:masterClrMapping/>
  </p:clrMapOvr>
  <p:transition xmlns:p14="http://schemas.microsoft.com/office/powerpoint/2010/main">
    <p:blinds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文字方塊 4"/>
          <p:cNvSpPr txBox="1">
            <a:spLocks noChangeArrowheads="1"/>
          </p:cNvSpPr>
          <p:nvPr/>
        </p:nvSpPr>
        <p:spPr bwMode="auto">
          <a:xfrm>
            <a:off x="1524000" y="1"/>
            <a:ext cx="9144000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TW" altLang="en-US" sz="3200">
                <a:solidFill>
                  <a:prstClr val="black"/>
                </a:solidFill>
              </a:rPr>
              <a:t>不開蓋控制面板系統介面</a:t>
            </a:r>
            <a:r>
              <a:rPr lang="en-US" altLang="zh-TW" sz="3200">
                <a:solidFill>
                  <a:prstClr val="black"/>
                </a:solidFill>
              </a:rPr>
              <a:t>—GUI</a:t>
            </a:r>
            <a:r>
              <a:rPr lang="zh-TW" altLang="en-US" sz="3200">
                <a:solidFill>
                  <a:prstClr val="black"/>
                </a:solidFill>
              </a:rPr>
              <a:t>設計圖</a:t>
            </a:r>
            <a:r>
              <a:rPr lang="en-US" altLang="zh-TW" sz="3200">
                <a:solidFill>
                  <a:prstClr val="black"/>
                </a:solidFill>
              </a:rPr>
              <a:t>(TBD_7/15</a:t>
            </a:r>
            <a:r>
              <a:rPr lang="zh-TW" altLang="en-US" sz="3200">
                <a:solidFill>
                  <a:prstClr val="black"/>
                </a:solidFill>
              </a:rPr>
              <a:t>初版</a:t>
            </a:r>
            <a:r>
              <a:rPr lang="en-US" altLang="zh-TW" sz="3200">
                <a:solidFill>
                  <a:prstClr val="black"/>
                </a:solidFill>
              </a:rPr>
              <a:t>)</a:t>
            </a:r>
            <a:endParaRPr lang="zh-TW" altLang="en-US" sz="3200">
              <a:solidFill>
                <a:prstClr val="black"/>
              </a:solidFill>
            </a:endParaRPr>
          </a:p>
        </p:txBody>
      </p:sp>
      <p:sp>
        <p:nvSpPr>
          <p:cNvPr id="148483" name="文字方塊 6"/>
          <p:cNvSpPr txBox="1">
            <a:spLocks noChangeArrowheads="1"/>
          </p:cNvSpPr>
          <p:nvPr/>
        </p:nvSpPr>
        <p:spPr bwMode="auto">
          <a:xfrm>
            <a:off x="1992314" y="981075"/>
            <a:ext cx="8262937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TW" altLang="en-US">
                <a:solidFill>
                  <a:prstClr val="black"/>
                </a:solidFill>
              </a:rPr>
              <a:t>依據</a:t>
            </a:r>
            <a:r>
              <a:rPr lang="en-US" altLang="zh-TW">
                <a:solidFill>
                  <a:prstClr val="black"/>
                </a:solidFill>
              </a:rPr>
              <a:t>BMC</a:t>
            </a:r>
            <a:r>
              <a:rPr lang="zh-TW" altLang="en-US">
                <a:solidFill>
                  <a:prstClr val="black"/>
                </a:solidFill>
              </a:rPr>
              <a:t>文件提供之</a:t>
            </a:r>
            <a:r>
              <a:rPr lang="en-US" altLang="zh-TW">
                <a:solidFill>
                  <a:prstClr val="black"/>
                </a:solidFill>
              </a:rPr>
              <a:t>Server</a:t>
            </a:r>
            <a:r>
              <a:rPr lang="zh-TW" altLang="en-US">
                <a:solidFill>
                  <a:prstClr val="black"/>
                </a:solidFill>
              </a:rPr>
              <a:t>可讀取資訊，提供圖形化操作介面，主要功能供在不開蓋狀態下，提供相關資訊進行問題查測與排解。</a:t>
            </a:r>
            <a:endParaRPr lang="en-US" altLang="zh-TW">
              <a:solidFill>
                <a:prstClr val="black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148484" name="文字方塊 8"/>
          <p:cNvSpPr txBox="1">
            <a:spLocks noChangeArrowheads="1"/>
          </p:cNvSpPr>
          <p:nvPr/>
        </p:nvSpPr>
        <p:spPr bwMode="auto">
          <a:xfrm>
            <a:off x="5610225" y="6308725"/>
            <a:ext cx="10795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TW" altLang="en-US">
                <a:solidFill>
                  <a:prstClr val="black"/>
                </a:solidFill>
              </a:rPr>
              <a:t>參考畫面</a:t>
            </a:r>
          </a:p>
        </p:txBody>
      </p:sp>
      <p:pic>
        <p:nvPicPr>
          <p:cNvPr id="148485" name="圖片 1" descr="螢幕截圖 2017-06-22 11.27.45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6289" y="1773239"/>
            <a:ext cx="3228975" cy="345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848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4194" y="1965879"/>
            <a:ext cx="4539006" cy="3263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53693535"/>
      </p:ext>
    </p:extLst>
  </p:cSld>
  <p:clrMapOvr>
    <a:masterClrMapping/>
  </p:clrMapOvr>
  <p:transition xmlns:p14="http://schemas.microsoft.com/office/powerpoint/2010/main">
    <p:blinds dir="vert"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標題 1"/>
          <p:cNvSpPr>
            <a:spLocks noGrp="1"/>
          </p:cNvSpPr>
          <p:nvPr>
            <p:ph type="title"/>
          </p:nvPr>
        </p:nvSpPr>
        <p:spPr>
          <a:xfrm>
            <a:off x="1981200" y="692150"/>
            <a:ext cx="8229600" cy="725488"/>
          </a:xfrm>
        </p:spPr>
        <p:txBody>
          <a:bodyPr/>
          <a:lstStyle/>
          <a:p>
            <a:r>
              <a:rPr kumimoji="1" lang="en-US" altLang="zh-TW" smtClean="0"/>
              <a:t>Proposal Q&amp;A</a:t>
            </a:r>
            <a:endParaRPr kumimoji="1" lang="zh-TW" altLang="en-US" smtClean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smtClean="0"/>
              <a:t>Pad/LCD/mini PC</a:t>
            </a:r>
            <a:r>
              <a:rPr kumimoji="1" lang="zh-TW" altLang="en-US" smtClean="0"/>
              <a:t>的用電需求</a:t>
            </a:r>
            <a:endParaRPr kumimoji="1" lang="en-US" altLang="zh-TW" smtClean="0"/>
          </a:p>
          <a:p>
            <a:pPr>
              <a:buFont typeface="Arial" panose="020B0604020202020204" pitchFamily="34" charset="0"/>
              <a:buNone/>
            </a:pPr>
            <a:r>
              <a:rPr kumimoji="1" lang="en-US" altLang="zh-TW" smtClean="0"/>
              <a:t>--</a:t>
            </a:r>
            <a:r>
              <a:rPr kumimoji="1" lang="zh-TW" altLang="en-US" smtClean="0"/>
              <a:t>已確認給電力規劃</a:t>
            </a:r>
            <a:endParaRPr kumimoji="1" lang="en-US" altLang="zh-TW" smtClean="0"/>
          </a:p>
          <a:p>
            <a:r>
              <a:rPr kumimoji="1" lang="en-US" altLang="zh-TW" smtClean="0"/>
              <a:t>Mini PC</a:t>
            </a:r>
            <a:r>
              <a:rPr kumimoji="1" lang="zh-TW" altLang="en-US" smtClean="0"/>
              <a:t>運作環境</a:t>
            </a:r>
            <a:endParaRPr kumimoji="1" lang="en-US" altLang="zh-TW" smtClean="0"/>
          </a:p>
          <a:p>
            <a:pPr>
              <a:buFont typeface="Arial" panose="020B0604020202020204" pitchFamily="34" charset="0"/>
              <a:buNone/>
            </a:pPr>
            <a:r>
              <a:rPr kumimoji="1" lang="en-US" altLang="zh-TW" smtClean="0"/>
              <a:t>--</a:t>
            </a:r>
            <a:r>
              <a:rPr kumimoji="1" lang="zh-TW" altLang="en-US" smtClean="0"/>
              <a:t>已由</a:t>
            </a:r>
            <a:r>
              <a:rPr kumimoji="1" lang="en-US" altLang="zh-TW" smtClean="0"/>
              <a:t>ME</a:t>
            </a:r>
            <a:r>
              <a:rPr kumimoji="1" lang="zh-TW" altLang="en-US" smtClean="0"/>
              <a:t>規劃並開孔流通</a:t>
            </a:r>
            <a:endParaRPr kumimoji="1" lang="en-US" altLang="zh-TW" smtClean="0"/>
          </a:p>
          <a:p>
            <a:r>
              <a:rPr kumimoji="1" lang="zh-TW" altLang="en-US" smtClean="0"/>
              <a:t>带外</a:t>
            </a:r>
            <a:r>
              <a:rPr kumimoji="1" lang="en-US" altLang="zh-TW" smtClean="0"/>
              <a:t>ip</a:t>
            </a:r>
            <a:r>
              <a:rPr kumimoji="1" lang="zh-TW" altLang="en-US" smtClean="0"/>
              <a:t>是</a:t>
            </a:r>
            <a:r>
              <a:rPr kumimoji="1" lang="en-US" altLang="zh-TW" smtClean="0"/>
              <a:t>dhcp</a:t>
            </a:r>
            <a:r>
              <a:rPr kumimoji="1" lang="zh-TW" altLang="en-US" smtClean="0"/>
              <a:t>自动获取的，</a:t>
            </a:r>
            <a:r>
              <a:rPr kumimoji="1" lang="en-US" altLang="zh-TW" smtClean="0"/>
              <a:t>mini pc</a:t>
            </a:r>
            <a:r>
              <a:rPr kumimoji="1" lang="zh-TW" altLang="en-US" smtClean="0"/>
              <a:t>怎么获取每台</a:t>
            </a:r>
            <a:r>
              <a:rPr kumimoji="1" lang="en-US" altLang="zh-TW" smtClean="0"/>
              <a:t>server</a:t>
            </a:r>
            <a:r>
              <a:rPr kumimoji="1" lang="zh-TW" altLang="en-US" smtClean="0"/>
              <a:t>的带外</a:t>
            </a:r>
            <a:r>
              <a:rPr kumimoji="1" lang="en-US" altLang="zh-TW" smtClean="0"/>
              <a:t>ip</a:t>
            </a:r>
            <a:r>
              <a:rPr kumimoji="1" lang="zh-TW" altLang="en-US" smtClean="0"/>
              <a:t>地址</a:t>
            </a:r>
            <a:endParaRPr kumimoji="1" lang="en-US" altLang="zh-TW" smtClean="0"/>
          </a:p>
          <a:p>
            <a:pPr>
              <a:buFont typeface="Arial" panose="020B0604020202020204" pitchFamily="34" charset="0"/>
              <a:buNone/>
            </a:pPr>
            <a:r>
              <a:rPr kumimoji="1" lang="en-US" altLang="zh-TW" smtClean="0"/>
              <a:t>--</a:t>
            </a:r>
            <a:r>
              <a:rPr kumimoji="1" lang="zh-TW" altLang="en-US" smtClean="0"/>
              <a:t>如下頁說明</a:t>
            </a:r>
          </a:p>
        </p:txBody>
      </p:sp>
    </p:spTree>
    <p:extLst>
      <p:ext uri="{BB962C8B-B14F-4D97-AF65-F5344CB8AC3E}">
        <p14:creationId xmlns:p14="http://schemas.microsoft.com/office/powerpoint/2010/main" val="2560147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標題 1"/>
          <p:cNvSpPr>
            <a:spLocks noGrp="1"/>
          </p:cNvSpPr>
          <p:nvPr>
            <p:ph type="title"/>
          </p:nvPr>
        </p:nvSpPr>
        <p:spPr>
          <a:xfrm>
            <a:off x="2154238" y="115888"/>
            <a:ext cx="7886700" cy="1325562"/>
          </a:xfrm>
        </p:spPr>
        <p:txBody>
          <a:bodyPr/>
          <a:lstStyle/>
          <a:p>
            <a:r>
              <a:rPr kumimoji="1" lang="en-US" altLang="zh-TW" sz="3200"/>
              <a:t>Q:</a:t>
            </a:r>
            <a:r>
              <a:rPr kumimoji="1" lang="zh-TW" altLang="en-US" sz="3200"/>
              <a:t>带外</a:t>
            </a:r>
            <a:r>
              <a:rPr kumimoji="1" lang="en-US" altLang="zh-TW" sz="3200"/>
              <a:t>ip</a:t>
            </a:r>
            <a:r>
              <a:rPr kumimoji="1" lang="zh-TW" altLang="en-US" sz="3200"/>
              <a:t>是</a:t>
            </a:r>
            <a:r>
              <a:rPr kumimoji="1" lang="en-US" altLang="zh-TW" sz="3200"/>
              <a:t>dhcp</a:t>
            </a:r>
            <a:r>
              <a:rPr kumimoji="1" lang="zh-TW" altLang="en-US" sz="3200"/>
              <a:t>自动获取的，</a:t>
            </a:r>
            <a:r>
              <a:rPr kumimoji="1" lang="en-US" altLang="zh-TW" sz="3200"/>
              <a:t>mini pc</a:t>
            </a:r>
            <a:r>
              <a:rPr kumimoji="1" lang="zh-TW" altLang="en-US" sz="3200"/>
              <a:t>怎么获取每台</a:t>
            </a:r>
            <a:r>
              <a:rPr kumimoji="1" lang="en-US" altLang="zh-TW" sz="3200"/>
              <a:t>server</a:t>
            </a:r>
            <a:r>
              <a:rPr kumimoji="1" lang="zh-TW" altLang="en-US" sz="3200"/>
              <a:t>的带外</a:t>
            </a:r>
            <a:r>
              <a:rPr kumimoji="1" lang="en-US" altLang="zh-TW" sz="3200"/>
              <a:t>ip</a:t>
            </a:r>
            <a:r>
              <a:rPr kumimoji="1" lang="zh-TW" altLang="en-US" sz="3200"/>
              <a:t>地址</a:t>
            </a:r>
          </a:p>
        </p:txBody>
      </p:sp>
      <p:pic>
        <p:nvPicPr>
          <p:cNvPr id="150531" name="圖片 3" descr="1498103467107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313" y="1557339"/>
            <a:ext cx="7721600" cy="5208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7067551" y="1412876"/>
            <a:ext cx="1243013" cy="100806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dirty="0">
                <a:solidFill>
                  <a:prstClr val="white"/>
                </a:solidFill>
              </a:rPr>
              <a:t>Tank </a:t>
            </a:r>
            <a:r>
              <a:rPr kumimoji="1" lang="zh-TW" altLang="en-US" dirty="0">
                <a:solidFill>
                  <a:prstClr val="white"/>
                </a:solidFill>
              </a:rPr>
              <a:t>內</a:t>
            </a:r>
            <a:r>
              <a:rPr kumimoji="1" lang="en-US" altLang="zh-TW" dirty="0">
                <a:solidFill>
                  <a:prstClr val="white"/>
                </a:solidFill>
              </a:rPr>
              <a:t>Server</a:t>
            </a:r>
            <a:endParaRPr kumimoji="1" lang="zh-TW" altLang="en-US" dirty="0">
              <a:solidFill>
                <a:prstClr val="white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3125789" y="1412876"/>
            <a:ext cx="1241425" cy="100806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TW" altLang="en-US" dirty="0">
                <a:solidFill>
                  <a:prstClr val="white"/>
                </a:solidFill>
              </a:rPr>
              <a:t>不開蓋外部控制系統主機</a:t>
            </a:r>
          </a:p>
        </p:txBody>
      </p:sp>
      <p:sp>
        <p:nvSpPr>
          <p:cNvPr id="150534" name="文字方塊 6"/>
          <p:cNvSpPr txBox="1">
            <a:spLocks noChangeArrowheads="1"/>
          </p:cNvSpPr>
          <p:nvPr/>
        </p:nvSpPr>
        <p:spPr bwMode="auto">
          <a:xfrm>
            <a:off x="4962526" y="2517776"/>
            <a:ext cx="17811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>
                <a:solidFill>
                  <a:srgbClr val="FF0000"/>
                </a:solidFill>
              </a:rPr>
              <a:t>Server</a:t>
            </a:r>
            <a:r>
              <a:rPr lang="zh-TW" altLang="en-US">
                <a:solidFill>
                  <a:srgbClr val="FF0000"/>
                </a:solidFill>
              </a:rPr>
              <a:t>廣播其</a:t>
            </a:r>
            <a:r>
              <a:rPr lang="en-US" altLang="zh-TW">
                <a:solidFill>
                  <a:srgbClr val="FF0000"/>
                </a:solidFill>
              </a:rPr>
              <a:t>IP</a:t>
            </a:r>
            <a:r>
              <a:rPr lang="zh-TW" altLang="en-US">
                <a:solidFill>
                  <a:srgbClr val="FF0000"/>
                </a:solidFill>
              </a:rPr>
              <a:t>資訊</a:t>
            </a:r>
          </a:p>
        </p:txBody>
      </p:sp>
      <p:sp>
        <p:nvSpPr>
          <p:cNvPr id="150535" name="文字方塊 7"/>
          <p:cNvSpPr txBox="1">
            <a:spLocks noChangeArrowheads="1"/>
          </p:cNvSpPr>
          <p:nvPr/>
        </p:nvSpPr>
        <p:spPr bwMode="auto">
          <a:xfrm>
            <a:off x="4962525" y="3573463"/>
            <a:ext cx="313213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TW" altLang="en-US">
                <a:solidFill>
                  <a:srgbClr val="FF0000"/>
                </a:solidFill>
              </a:rPr>
              <a:t>控制系統主機搜尋並確認</a:t>
            </a:r>
            <a:r>
              <a:rPr lang="en-US" altLang="zh-TW">
                <a:solidFill>
                  <a:srgbClr val="FF0000"/>
                </a:solidFill>
              </a:rPr>
              <a:t> Server IP</a:t>
            </a:r>
            <a:r>
              <a:rPr lang="zh-TW" altLang="en-US">
                <a:solidFill>
                  <a:srgbClr val="FF0000"/>
                </a:solidFill>
              </a:rPr>
              <a:t>資訊</a:t>
            </a:r>
          </a:p>
        </p:txBody>
      </p:sp>
      <p:sp>
        <p:nvSpPr>
          <p:cNvPr id="150536" name="文字方塊 8"/>
          <p:cNvSpPr txBox="1">
            <a:spLocks noChangeArrowheads="1"/>
          </p:cNvSpPr>
          <p:nvPr/>
        </p:nvSpPr>
        <p:spPr bwMode="auto">
          <a:xfrm>
            <a:off x="3395664" y="4437064"/>
            <a:ext cx="31321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TW">
                <a:solidFill>
                  <a:srgbClr val="FF0000"/>
                </a:solidFill>
              </a:rPr>
              <a:t>Server </a:t>
            </a:r>
            <a:r>
              <a:rPr lang="zh-TW" altLang="en-US">
                <a:solidFill>
                  <a:srgbClr val="FF0000"/>
                </a:solidFill>
              </a:rPr>
              <a:t>再次確認</a:t>
            </a:r>
          </a:p>
        </p:txBody>
      </p:sp>
      <p:sp>
        <p:nvSpPr>
          <p:cNvPr id="150537" name="文字方塊 9"/>
          <p:cNvSpPr txBox="1">
            <a:spLocks noChangeArrowheads="1"/>
          </p:cNvSpPr>
          <p:nvPr/>
        </p:nvSpPr>
        <p:spPr bwMode="auto">
          <a:xfrm>
            <a:off x="4637089" y="5661025"/>
            <a:ext cx="3133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TW" altLang="en-US">
                <a:solidFill>
                  <a:srgbClr val="FF0000"/>
                </a:solidFill>
              </a:rPr>
              <a:t>雙方開始進行資料溝通</a:t>
            </a:r>
          </a:p>
        </p:txBody>
      </p:sp>
    </p:spTree>
    <p:extLst>
      <p:ext uri="{BB962C8B-B14F-4D97-AF65-F5344CB8AC3E}">
        <p14:creationId xmlns:p14="http://schemas.microsoft.com/office/powerpoint/2010/main" val="2642539310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585</Words>
  <Application>Microsoft Macintosh PowerPoint</Application>
  <PresentationFormat>自定义</PresentationFormat>
  <Paragraphs>101</Paragraphs>
  <Slides>9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0" baseType="lpstr">
      <vt:lpstr>Default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Proposal Q&amp;A</vt:lpstr>
      <vt:lpstr>Q:带外ip是dhcp自动获取的，mini pc怎么获取每台server的带外ip地址</vt:lpstr>
    </vt:vector>
  </TitlesOfParts>
  <Company>ALIBABA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英苏</dc:creator>
  <cp:lastModifiedBy>俨 庄</cp:lastModifiedBy>
  <cp:revision>5</cp:revision>
  <dcterms:created xsi:type="dcterms:W3CDTF">2017-07-07T08:25:44Z</dcterms:created>
  <dcterms:modified xsi:type="dcterms:W3CDTF">2017-07-14T07:31:36Z</dcterms:modified>
</cp:coreProperties>
</file>