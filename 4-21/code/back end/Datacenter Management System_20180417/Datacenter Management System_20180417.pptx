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5" r:id="rId5"/>
    <p:sldId id="264" r:id="rId6"/>
    <p:sldId id="263" r:id="rId7"/>
    <p:sldId id="268" r:id="rId8"/>
    <p:sldId id="269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3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4946C6-7E30-4DE1-B2BA-EC0882A3D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A5BDC3-E1EE-4190-89FD-76AA51165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CFE431-8178-4994-80C2-01C891D4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18B815-C5CB-4B7B-97F2-4412BFBAA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AA7907-FA00-4AF8-BEA7-70EA9131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3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8C6F3A-A97A-413F-8F08-9FB38820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EDD134-655C-4998-8C0E-F140425D4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F84763-1C1B-410F-AA65-E78D6305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7D1B4D-A15A-494D-A810-6F990B3B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686FD8-4B76-4328-B46C-99722333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2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A915FF-5190-452C-B2A9-9C2DC5AB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5DC1CA-D600-4D22-B562-2E9A5C947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6C744B-0FDD-4162-B4D7-F6F42F5C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935FE7-1E91-4890-9471-B6C3082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22ED3E-60FF-438B-9023-EC4BBC6C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8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3DC3EC-288B-4B73-B0D2-C81BC025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53F7C5-8F39-45DA-B61F-08D7BF1B7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96AF4B-060E-4389-8864-EC395A8E3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B936FC-E902-4E61-91A0-FE966E26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4237B4-EEE4-4AFF-BE84-4F6C82A2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2A560B-132B-41F2-934A-51BE3F62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17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7D6C57-97C1-45E1-B410-3740EC05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1E4C24-86A4-4753-83C6-F17406AF4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655837-44FD-465B-8571-C0B05FC36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E004576-51EE-4D4D-B14E-8F6DB9C91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4561BB7-096C-45EA-8A6B-2DFCB053F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AB2FCE3-DA5C-4F04-87A0-89E222FA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9505EF7-F0DA-4008-B586-73505182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412D18D-4DE6-4B37-BDF3-2109AC0E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4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65483-BECE-4A41-A696-6D7F1964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93A7B45-7813-453F-AC80-01AF78F8C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89C08E8-CC63-433B-9BBD-CFB473DF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B412B5-15D6-4E65-BCDA-6A8DEBE8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4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F142E6F-968C-427B-8986-987C48F4F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B3454E-7EDD-4F94-ABED-658D0F6C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9892CA-AAE2-4060-AF58-56CADD9F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4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C457C3-E147-4375-B162-DEF9EEC2B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262F49-FC0B-4DFE-97D6-8C1B005A7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2535AC0-4446-442F-99CF-445E0966C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3BF7FF-2547-47B9-9FF6-2D332652D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2130C7-0AA8-467E-A3D3-B881BEAA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8E6F5E-7860-4E0C-B2F7-CA3F6CD8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7B5828-D353-404B-B62B-1D683AD9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7D80301-0B0E-4DB1-855D-1856824FA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8E7E7F-E1F6-4A7D-8527-4FFA78DA3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9841AF-B91E-440F-8418-745710CB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E6327C-1676-464C-9BCB-8F48BBEF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E66F15-5ED3-464F-9CFA-036C4B88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6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AD1B67-817B-4FF5-AF66-45B7CC24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B3CA6F-1DAB-47EB-8361-B3DD56B2A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40D248-89A7-4C95-846B-EF6E2AC7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B305DF-51F8-48A5-B272-28971CC3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394F7D-5827-413F-9507-7F8B7A49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7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2473AC8-D4A9-400B-8675-39FEC93DB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9AA5DB-6624-482E-8F5D-F27B3773F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C6452E-9E3B-4A7D-BB30-DFA3F0D4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B92056-1FED-456D-BCEF-79A85CFD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CFD138-1DBC-4732-92FA-4984B4A1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9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1423F2D-3B72-4C8D-B4DC-B6F72332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F04FCE6-F79D-409F-872E-B7A98D9DA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D0BD80-ACC7-45EC-967E-D75978BCF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20E11-014F-4F1E-8482-1F229D1C1E62}" type="datetimeFigureOut">
              <a:rPr lang="en-US" smtClean="0"/>
              <a:t>4/17/2018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21E33F-9BD3-42B9-B528-23B97ED26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613455-F91E-4799-B6B6-FEB77A8F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5ECC2-356E-4C31-92FF-F8D5AF475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7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152741-30F6-47CE-80B7-31BA00EA69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Datacenter </a:t>
            </a:r>
            <a:br>
              <a:rPr lang="en-US" dirty="0"/>
            </a:br>
            <a:r>
              <a:rPr lang="en-US" dirty="0"/>
              <a:t>Management System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20A2816-6E90-4F5E-8D04-6BE4DAE2CD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Benson Tan</a:t>
            </a:r>
          </a:p>
          <a:p>
            <a:r>
              <a:rPr lang="en-US" dirty="0"/>
              <a:t>2018/03/29</a:t>
            </a:r>
          </a:p>
        </p:txBody>
      </p:sp>
    </p:spTree>
    <p:extLst>
      <p:ext uri="{BB962C8B-B14F-4D97-AF65-F5344CB8AC3E}">
        <p14:creationId xmlns:p14="http://schemas.microsoft.com/office/powerpoint/2010/main" val="357423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911FF-8C52-4676-918A-D8E8CE3D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Road map/</a:t>
            </a:r>
            <a:r>
              <a:rPr lang="en-US" altLang="zh-TW" dirty="0"/>
              <a:t>M</a:t>
            </a:r>
            <a:r>
              <a:rPr lang="en-US" altLang="zh-CN" dirty="0"/>
              <a:t>ilestone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F12DF1-ED14-4D71-9C6C-EE990279F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M0 (ship to </a:t>
            </a:r>
            <a:r>
              <a:rPr lang="zh-TW" altLang="en-US" dirty="0"/>
              <a:t>阿里</a:t>
            </a:r>
            <a:r>
              <a:rPr lang="en-US" altLang="zh-TW" dirty="0"/>
              <a:t>):</a:t>
            </a:r>
          </a:p>
          <a:p>
            <a:pPr lvl="1"/>
            <a:r>
              <a:rPr lang="zh-TW" altLang="en-US" dirty="0"/>
              <a:t>將</a:t>
            </a:r>
            <a:r>
              <a:rPr lang="zh-CN" altLang="en-US" dirty="0"/>
              <a:t> </a:t>
            </a:r>
            <a:r>
              <a:rPr lang="en-US" altLang="zh-CN" dirty="0"/>
              <a:t>web application</a:t>
            </a:r>
            <a:r>
              <a:rPr lang="zh-TW" altLang="en-US" dirty="0"/>
              <a:t>這一層</a:t>
            </a:r>
            <a:r>
              <a:rPr lang="en-US" altLang="zh-TW" dirty="0"/>
              <a:t>, </a:t>
            </a:r>
            <a:r>
              <a:rPr lang="zh-TW" altLang="en-US" dirty="0"/>
              <a:t>由傳統網頁為主轉為</a:t>
            </a:r>
            <a:r>
              <a:rPr lang="zh-CN" altLang="en-US" dirty="0"/>
              <a:t> </a:t>
            </a:r>
            <a:r>
              <a:rPr lang="en-US" altLang="zh-CN" dirty="0"/>
              <a:t>RESTful API</a:t>
            </a:r>
          </a:p>
          <a:p>
            <a:pPr lvl="1"/>
            <a:r>
              <a:rPr lang="en-US" altLang="zh-CN" dirty="0"/>
              <a:t>Backend Service </a:t>
            </a:r>
            <a:r>
              <a:rPr lang="zh-TW" altLang="en-US" dirty="0"/>
              <a:t>負責搜集 </a:t>
            </a:r>
            <a:r>
              <a:rPr lang="en-US" altLang="zh-TW" dirty="0"/>
              <a:t>(plug-able architecture), </a:t>
            </a:r>
            <a:r>
              <a:rPr lang="zh-TW" altLang="en-US" dirty="0"/>
              <a:t>和</a:t>
            </a:r>
            <a:r>
              <a:rPr lang="zh-CN" altLang="en-US" dirty="0"/>
              <a:t> </a:t>
            </a:r>
            <a:r>
              <a:rPr lang="en-US" altLang="zh-CN" dirty="0"/>
              <a:t>purge program</a:t>
            </a:r>
          </a:p>
          <a:p>
            <a:pPr lvl="1"/>
            <a:r>
              <a:rPr lang="en-US" altLang="zh-CN" dirty="0"/>
              <a:t>Backend Service </a:t>
            </a:r>
            <a:r>
              <a:rPr lang="zh-TW" altLang="en-US" dirty="0"/>
              <a:t>必須做</a:t>
            </a:r>
            <a:r>
              <a:rPr lang="zh-CN" altLang="en-US" dirty="0"/>
              <a:t> </a:t>
            </a:r>
            <a:r>
              <a:rPr lang="en-US" altLang="zh-CN" dirty="0"/>
              <a:t>compile </a:t>
            </a:r>
            <a:r>
              <a:rPr lang="zh-TW" altLang="en-US" dirty="0"/>
              <a:t>成</a:t>
            </a:r>
            <a:r>
              <a:rPr lang="zh-CN" altLang="en-US" dirty="0"/>
              <a:t> </a:t>
            </a:r>
            <a:r>
              <a:rPr lang="en-US" altLang="zh-CN" dirty="0"/>
              <a:t>.exe  </a:t>
            </a:r>
            <a:r>
              <a:rPr lang="zh-TW" altLang="en-US" dirty="0"/>
              <a:t>或是</a:t>
            </a:r>
            <a:r>
              <a:rPr lang="zh-CN" altLang="en-US" dirty="0"/>
              <a:t> </a:t>
            </a:r>
            <a:r>
              <a:rPr lang="en-US" altLang="zh-CN" dirty="0"/>
              <a:t>binary form,</a:t>
            </a:r>
            <a:r>
              <a:rPr lang="zh-CN" altLang="en-US" dirty="0"/>
              <a:t> </a:t>
            </a:r>
            <a:r>
              <a:rPr lang="zh-TW" altLang="en-US" dirty="0"/>
              <a:t>避免被破解</a:t>
            </a:r>
            <a:endParaRPr lang="en-US" altLang="zh-CN" dirty="0"/>
          </a:p>
          <a:p>
            <a:r>
              <a:rPr lang="en-US" altLang="zh-TW" dirty="0"/>
              <a:t>M1: </a:t>
            </a:r>
          </a:p>
          <a:p>
            <a:pPr lvl="1"/>
            <a:r>
              <a:rPr lang="zh-TW" altLang="en-US" dirty="0"/>
              <a:t>利用</a:t>
            </a:r>
            <a:r>
              <a:rPr lang="zh-CN" altLang="en-US" dirty="0"/>
              <a:t> </a:t>
            </a:r>
            <a:r>
              <a:rPr lang="en-US" altLang="zh-CN" dirty="0"/>
              <a:t>d3.js</a:t>
            </a:r>
            <a:r>
              <a:rPr lang="en-US" altLang="zh-TW" dirty="0"/>
              <a:t>, html</a:t>
            </a:r>
            <a:r>
              <a:rPr lang="zh-CN" altLang="en-US" dirty="0"/>
              <a:t> </a:t>
            </a:r>
            <a:r>
              <a:rPr lang="en-US" altLang="zh-CN" dirty="0"/>
              <a:t>grid </a:t>
            </a:r>
            <a:r>
              <a:rPr lang="zh-TW" altLang="en-US" dirty="0"/>
              <a:t>這一類的架構、技術</a:t>
            </a:r>
            <a:r>
              <a:rPr lang="en-US" altLang="zh-TW" dirty="0"/>
              <a:t>, </a:t>
            </a:r>
            <a:r>
              <a:rPr lang="zh-TW" altLang="en-US" dirty="0"/>
              <a:t>將前端</a:t>
            </a:r>
            <a:r>
              <a:rPr lang="zh-CN" altLang="en-US" dirty="0"/>
              <a:t> </a:t>
            </a:r>
            <a:r>
              <a:rPr lang="en-US" altLang="zh-CN" dirty="0"/>
              <a:t>html </a:t>
            </a:r>
            <a:r>
              <a:rPr lang="zh-TW" altLang="en-US" dirty="0"/>
              <a:t>轉為「文件意義表示層」</a:t>
            </a:r>
            <a:r>
              <a:rPr lang="en-US" altLang="zh-TW" dirty="0"/>
              <a:t>, </a:t>
            </a:r>
            <a:r>
              <a:rPr lang="zh-TW" altLang="en-US" dirty="0"/>
              <a:t>利用</a:t>
            </a:r>
            <a:r>
              <a:rPr lang="zh-CN" altLang="en-US" dirty="0"/>
              <a:t> </a:t>
            </a:r>
            <a:r>
              <a:rPr lang="en-US" altLang="zh-CN" dirty="0" err="1"/>
              <a:t>css</a:t>
            </a:r>
            <a:r>
              <a:rPr lang="en-US" altLang="zh-CN" dirty="0"/>
              <a:t> </a:t>
            </a:r>
            <a:r>
              <a:rPr lang="zh-TW" altLang="en-US" dirty="0"/>
              <a:t>做為客製樣式表現層</a:t>
            </a:r>
            <a:r>
              <a:rPr lang="en-US" altLang="zh-TW" dirty="0"/>
              <a:t>, </a:t>
            </a:r>
            <a:r>
              <a:rPr lang="zh-TW" altLang="en-US" dirty="0"/>
              <a:t>利用</a:t>
            </a:r>
            <a:r>
              <a:rPr lang="zh-CN" altLang="en-US" dirty="0"/>
              <a:t> </a:t>
            </a:r>
            <a:r>
              <a:rPr lang="en-US" altLang="zh-CN" dirty="0"/>
              <a:t>d3.js (data driven document) </a:t>
            </a:r>
            <a:r>
              <a:rPr lang="zh-TW" altLang="en-US" dirty="0"/>
              <a:t>讓前端大幅減少</a:t>
            </a:r>
            <a:endParaRPr lang="en-US" altLang="zh-TW" dirty="0"/>
          </a:p>
          <a:p>
            <a:r>
              <a:rPr lang="en-US" altLang="zh-TW" dirty="0"/>
              <a:t>M2:</a:t>
            </a:r>
          </a:p>
          <a:p>
            <a:pPr lvl="1"/>
            <a:r>
              <a:rPr lang="en-US" altLang="zh-TW" dirty="0"/>
              <a:t>Minor service (collect BMC info to database) </a:t>
            </a:r>
            <a:r>
              <a:rPr lang="zh-TW" altLang="en-US" dirty="0"/>
              <a:t>依照不同表格、欄位</a:t>
            </a:r>
            <a:r>
              <a:rPr lang="en-US" altLang="zh-TW" dirty="0"/>
              <a:t>, </a:t>
            </a:r>
            <a:r>
              <a:rPr lang="zh-TW" altLang="en-US" dirty="0"/>
              <a:t>產生對應的</a:t>
            </a:r>
            <a:r>
              <a:rPr lang="zh-CN" altLang="en-US" dirty="0"/>
              <a:t> </a:t>
            </a:r>
            <a:r>
              <a:rPr lang="en-US" altLang="zh-CN" dirty="0"/>
              <a:t>Minor Plug-able, table </a:t>
            </a:r>
            <a:r>
              <a:rPr lang="zh-TW" altLang="en-US" dirty="0"/>
              <a:t>和</a:t>
            </a:r>
            <a:r>
              <a:rPr lang="zh-CN" altLang="en-US" dirty="0"/>
              <a:t> </a:t>
            </a:r>
            <a:r>
              <a:rPr lang="en-US" altLang="zh-CN" dirty="0"/>
              <a:t>RESTful API</a:t>
            </a:r>
          </a:p>
          <a:p>
            <a:pPr lvl="1"/>
            <a:r>
              <a:rPr lang="en-US" altLang="zh-TW" dirty="0"/>
              <a:t>Minor service </a:t>
            </a:r>
            <a:r>
              <a:rPr lang="en-US" altLang="zh-CN" dirty="0"/>
              <a:t>dynamic loading plug-able data collector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M</a:t>
            </a:r>
            <a:r>
              <a:rPr lang="en-US" altLang="zh-CN" dirty="0"/>
              <a:t>inor Plug-able repository</a:t>
            </a:r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043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4908A0-B202-4611-A5BE-02A5ED00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DBD36F-5181-4636-9ED8-E22D9F2CFADD}"/>
              </a:ext>
            </a:extLst>
          </p:cNvPr>
          <p:cNvSpPr/>
          <p:nvPr/>
        </p:nvSpPr>
        <p:spPr>
          <a:xfrm>
            <a:off x="4746456" y="365125"/>
            <a:ext cx="6990349" cy="6136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CSS layer: target for various devices </a:t>
            </a:r>
          </a:p>
          <a:p>
            <a:pPr algn="ctr"/>
            <a:r>
              <a:rPr lang="en-US" dirty="0"/>
              <a:t>(styles, page layout,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29D264-C50D-49BD-BF0C-B746063B5ECD}"/>
              </a:ext>
            </a:extLst>
          </p:cNvPr>
          <p:cNvSpPr/>
          <p:nvPr/>
        </p:nvSpPr>
        <p:spPr>
          <a:xfrm>
            <a:off x="4746455" y="1063163"/>
            <a:ext cx="6990349" cy="6136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HTML: target for various types of data</a:t>
            </a:r>
          </a:p>
          <a:p>
            <a:pPr algn="ctr"/>
            <a:r>
              <a:rPr lang="en-US" dirty="0"/>
              <a:t> (server list, event list,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186E71-6439-435B-9486-82B2711E4FE3}"/>
              </a:ext>
            </a:extLst>
          </p:cNvPr>
          <p:cNvSpPr/>
          <p:nvPr/>
        </p:nvSpPr>
        <p:spPr>
          <a:xfrm>
            <a:off x="4746455" y="1761201"/>
            <a:ext cx="6990349" cy="6136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Javascript</a:t>
            </a:r>
            <a:r>
              <a:rPr lang="en-US" dirty="0"/>
              <a:t>: </a:t>
            </a:r>
            <a:r>
              <a:rPr lang="en-US" altLang="zh-CN" dirty="0"/>
              <a:t>target data exchange in between </a:t>
            </a:r>
          </a:p>
          <a:p>
            <a:pPr algn="ctr"/>
            <a:r>
              <a:rPr lang="en-US" altLang="zh-CN" dirty="0"/>
              <a:t>backend and html layer</a:t>
            </a:r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4B1C49-342F-44CA-A9EF-64C652EB8C79}"/>
              </a:ext>
            </a:extLst>
          </p:cNvPr>
          <p:cNvSpPr/>
          <p:nvPr/>
        </p:nvSpPr>
        <p:spPr>
          <a:xfrm>
            <a:off x="4746455" y="2459239"/>
            <a:ext cx="6990349" cy="61361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Flask/Python: target to provide data from database and basic real time BMC operation (such as, shutdown) via RESTful API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A3A82D-3758-4206-A2C0-3CDBF43D4733}"/>
              </a:ext>
            </a:extLst>
          </p:cNvPr>
          <p:cNvSpPr/>
          <p:nvPr/>
        </p:nvSpPr>
        <p:spPr>
          <a:xfrm>
            <a:off x="4746454" y="3157277"/>
            <a:ext cx="6081967" cy="61361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 (Storage)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D0D5DA-2337-4CBD-9D44-83D9C1C8D39D}"/>
              </a:ext>
            </a:extLst>
          </p:cNvPr>
          <p:cNvSpPr/>
          <p:nvPr/>
        </p:nvSpPr>
        <p:spPr>
          <a:xfrm>
            <a:off x="4746454" y="3855315"/>
            <a:ext cx="6081967" cy="61361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Monitor: Dynamic Loading Data Collector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DF8A83-B6BA-4717-A1F2-0A29CE0031B2}"/>
              </a:ext>
            </a:extLst>
          </p:cNvPr>
          <p:cNvSpPr/>
          <p:nvPr/>
        </p:nvSpPr>
        <p:spPr>
          <a:xfrm>
            <a:off x="4746454" y="4553353"/>
            <a:ext cx="1586168" cy="61361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Collector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8242F3-C9E8-4BF4-A3C2-9826839DEB0D}"/>
              </a:ext>
            </a:extLst>
          </p:cNvPr>
          <p:cNvSpPr/>
          <p:nvPr/>
        </p:nvSpPr>
        <p:spPr>
          <a:xfrm>
            <a:off x="6607270" y="4535108"/>
            <a:ext cx="1586168" cy="61361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Collector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6B0E1D-3911-4D94-B285-D16253C1930A}"/>
              </a:ext>
            </a:extLst>
          </p:cNvPr>
          <p:cNvSpPr/>
          <p:nvPr/>
        </p:nvSpPr>
        <p:spPr>
          <a:xfrm>
            <a:off x="9242253" y="4556457"/>
            <a:ext cx="1586168" cy="61361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Collector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79747FF-5E5A-42A1-BFC3-9E7DBEDC4534}"/>
              </a:ext>
            </a:extLst>
          </p:cNvPr>
          <p:cNvSpPr txBox="1"/>
          <p:nvPr/>
        </p:nvSpPr>
        <p:spPr>
          <a:xfrm>
            <a:off x="8520237" y="4675492"/>
            <a:ext cx="51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858095-8CA9-4E25-9768-7F2EE5AC0F71}"/>
              </a:ext>
            </a:extLst>
          </p:cNvPr>
          <p:cNvSpPr/>
          <p:nvPr/>
        </p:nvSpPr>
        <p:spPr>
          <a:xfrm>
            <a:off x="4746454" y="5251390"/>
            <a:ext cx="6990349" cy="61361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RedFish</a:t>
            </a:r>
            <a:endParaRPr 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E05C03-41E4-4A89-B35B-A71FFA2FDC52}"/>
              </a:ext>
            </a:extLst>
          </p:cNvPr>
          <p:cNvSpPr/>
          <p:nvPr/>
        </p:nvSpPr>
        <p:spPr>
          <a:xfrm>
            <a:off x="4746454" y="5935515"/>
            <a:ext cx="6990349" cy="61361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Platform</a:t>
            </a:r>
          </a:p>
        </p:txBody>
      </p:sp>
      <p:sp>
        <p:nvSpPr>
          <p:cNvPr id="17" name="圓柱形 16">
            <a:extLst>
              <a:ext uri="{FF2B5EF4-FFF2-40B4-BE49-F238E27FC236}">
                <a16:creationId xmlns:a16="http://schemas.microsoft.com/office/drawing/2014/main" id="{87DD1131-9FD7-4F94-955F-A38BDBDBE72D}"/>
              </a:ext>
            </a:extLst>
          </p:cNvPr>
          <p:cNvSpPr/>
          <p:nvPr/>
        </p:nvSpPr>
        <p:spPr>
          <a:xfrm>
            <a:off x="696093" y="3157277"/>
            <a:ext cx="1499670" cy="2239968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Repository</a:t>
            </a:r>
          </a:p>
          <a:p>
            <a:pPr algn="ctr"/>
            <a:r>
              <a:rPr lang="en-US" dirty="0"/>
              <a:t>Store various plug-in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9152E8A4-2C41-4045-B0BA-EC9FB8AB9620}"/>
              </a:ext>
            </a:extLst>
          </p:cNvPr>
          <p:cNvCxnSpPr>
            <a:cxnSpLocks/>
            <a:stCxn id="17" idx="4"/>
            <a:endCxn id="7" idx="1"/>
          </p:cNvCxnSpPr>
          <p:nvPr/>
        </p:nvCxnSpPr>
        <p:spPr>
          <a:xfrm flipV="1">
            <a:off x="2195763" y="2766045"/>
            <a:ext cx="2550692" cy="151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D0A8DE6-8D01-45FC-95F8-CD8F58EA372E}"/>
              </a:ext>
            </a:extLst>
          </p:cNvPr>
          <p:cNvCxnSpPr>
            <a:cxnSpLocks/>
            <a:stCxn id="17" idx="4"/>
            <a:endCxn id="10" idx="1"/>
          </p:cNvCxnSpPr>
          <p:nvPr/>
        </p:nvCxnSpPr>
        <p:spPr>
          <a:xfrm>
            <a:off x="2195763" y="4277261"/>
            <a:ext cx="2550691" cy="582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1EEEE799-2301-4343-A256-BEEB93E5A0D6}"/>
              </a:ext>
            </a:extLst>
          </p:cNvPr>
          <p:cNvCxnSpPr>
            <a:cxnSpLocks/>
            <a:stCxn id="17" idx="4"/>
            <a:endCxn id="8" idx="1"/>
          </p:cNvCxnSpPr>
          <p:nvPr/>
        </p:nvCxnSpPr>
        <p:spPr>
          <a:xfrm flipV="1">
            <a:off x="2195763" y="3464083"/>
            <a:ext cx="2550691" cy="813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9D8D0C5-058C-4E3D-A24E-AEE5376DC424}"/>
              </a:ext>
            </a:extLst>
          </p:cNvPr>
          <p:cNvSpPr txBox="1"/>
          <p:nvPr/>
        </p:nvSpPr>
        <p:spPr>
          <a:xfrm>
            <a:off x="3018901" y="3633332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Schema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9F587D7-EB30-443B-BF9F-8A427BB533E8}"/>
              </a:ext>
            </a:extLst>
          </p:cNvPr>
          <p:cNvSpPr txBox="1"/>
          <p:nvPr/>
        </p:nvSpPr>
        <p:spPr>
          <a:xfrm>
            <a:off x="2679025" y="4284260"/>
            <a:ext cx="206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Command-schema mapping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9F6C466-74D3-4905-817C-CA5F68F9FEB0}"/>
              </a:ext>
            </a:extLst>
          </p:cNvPr>
          <p:cNvSpPr txBox="1"/>
          <p:nvPr/>
        </p:nvSpPr>
        <p:spPr>
          <a:xfrm>
            <a:off x="2556910" y="2938258"/>
            <a:ext cx="167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</a:t>
            </a:r>
            <a:r>
              <a:rPr lang="en-US" strike="dblStrike" dirty="0"/>
              <a:t>UD</a:t>
            </a:r>
            <a:r>
              <a:rPr lang="en-US" dirty="0"/>
              <a:t> rest point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41A3DBD-F18A-427C-A29C-B52904EFDD69}"/>
              </a:ext>
            </a:extLst>
          </p:cNvPr>
          <p:cNvSpPr/>
          <p:nvPr/>
        </p:nvSpPr>
        <p:spPr>
          <a:xfrm rot="5400000">
            <a:off x="10310328" y="3740491"/>
            <a:ext cx="2009685" cy="84326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Time Operations</a:t>
            </a:r>
          </a:p>
        </p:txBody>
      </p:sp>
    </p:spTree>
    <p:extLst>
      <p:ext uri="{BB962C8B-B14F-4D97-AF65-F5344CB8AC3E}">
        <p14:creationId xmlns:p14="http://schemas.microsoft.com/office/powerpoint/2010/main" val="350832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05F68C-34C4-4808-A076-36934AA3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IPMI Tool limitation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0DBF8E-EACD-497A-851D-BA06CDA4E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IPMITool</a:t>
            </a:r>
            <a:r>
              <a:rPr lang="en-US" dirty="0"/>
              <a:t> Exec looks like still run the command in sequence.</a:t>
            </a:r>
          </a:p>
          <a:p>
            <a:r>
              <a:rPr lang="en-US" dirty="0"/>
              <a:t>Call </a:t>
            </a:r>
            <a:r>
              <a:rPr lang="en-US" dirty="0" err="1"/>
              <a:t>IPMITool</a:t>
            </a:r>
            <a:r>
              <a:rPr lang="en-US" dirty="0"/>
              <a:t> through multi-sessions, it still runs the command in sequence.</a:t>
            </a:r>
          </a:p>
          <a:p>
            <a:r>
              <a:rPr lang="en-US" dirty="0" err="1"/>
              <a:t>IPMITool</a:t>
            </a:r>
            <a:r>
              <a:rPr lang="en-US" dirty="0"/>
              <a:t> can takes many seconds to run if the server is not available.</a:t>
            </a:r>
          </a:p>
          <a:p>
            <a:r>
              <a:rPr lang="en-US" dirty="0"/>
              <a:t>Collected data should bind with the collecting time, and it should not slow down even 1 or more machine in the list is not available.</a:t>
            </a:r>
          </a:p>
          <a:p>
            <a:r>
              <a:rPr lang="en-US" dirty="0"/>
              <a:t>As server monitor needs, collecting data on time is important, but it cannot rely on </a:t>
            </a:r>
            <a:r>
              <a:rPr lang="en-US" dirty="0" err="1"/>
              <a:t>IPMITool</a:t>
            </a:r>
            <a:r>
              <a:rPr lang="en-US" dirty="0"/>
              <a:t> itself.</a:t>
            </a:r>
          </a:p>
        </p:txBody>
      </p:sp>
    </p:spTree>
    <p:extLst>
      <p:ext uri="{BB962C8B-B14F-4D97-AF65-F5344CB8AC3E}">
        <p14:creationId xmlns:p14="http://schemas.microsoft.com/office/powerpoint/2010/main" val="139632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097D6-5568-4A23-A656-FB98989D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service mechanism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E066CC-2293-43D6-95C0-730228F33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Retrieve server and task list </a:t>
            </a:r>
            <a:r>
              <a:rPr lang="en-US" altLang="zh-CN" dirty="0"/>
              <a:t>every 10 minutes.</a:t>
            </a:r>
          </a:p>
          <a:p>
            <a:r>
              <a:rPr lang="en-US" altLang="zh-TW" dirty="0"/>
              <a:t>Start a monitor thread every 0.5 seconds.</a:t>
            </a:r>
          </a:p>
          <a:p>
            <a:r>
              <a:rPr lang="en-US" altLang="zh-TW" dirty="0"/>
              <a:t>For every monitor thread, loop through the tasks list to collect every server’s info.</a:t>
            </a:r>
          </a:p>
          <a:p>
            <a:r>
              <a:rPr lang="en-US" altLang="zh-TW" dirty="0"/>
              <a:t>Use “rename to .1” mechanism to ensure </a:t>
            </a:r>
            <a:r>
              <a:rPr lang="en-US" altLang="zh-TW" dirty="0" err="1"/>
              <a:t>IPMITool</a:t>
            </a:r>
            <a:r>
              <a:rPr lang="en-US" altLang="zh-TW" dirty="0"/>
              <a:t> is complete instead of using an idle thread to wait the command.</a:t>
            </a:r>
          </a:p>
          <a:p>
            <a:r>
              <a:rPr lang="en-US" altLang="zh-TW" dirty="0"/>
              <a:t>Use .1, .2, … to complete the flow stage, and it is self-contained (server id, time, exec commands, output)</a:t>
            </a:r>
          </a:p>
          <a:p>
            <a:r>
              <a:rPr lang="en-US" altLang="zh-TW" dirty="0"/>
              <a:t>Parse the </a:t>
            </a:r>
            <a:r>
              <a:rPr lang="en-US" altLang="zh-TW" dirty="0" err="1"/>
              <a:t>IPMITool</a:t>
            </a:r>
            <a:r>
              <a:rPr lang="en-US" altLang="zh-TW" dirty="0"/>
              <a:t> output and then call store procedure to insert into database.</a:t>
            </a:r>
          </a:p>
        </p:txBody>
      </p:sp>
    </p:spTree>
    <p:extLst>
      <p:ext uri="{BB962C8B-B14F-4D97-AF65-F5344CB8AC3E}">
        <p14:creationId xmlns:p14="http://schemas.microsoft.com/office/powerpoint/2010/main" val="390385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5130B-ACD7-443E-B3E5-CA3C71C0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Monitor, Parser and Executor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6DE5CBBF-E8AA-4E16-916A-F363B74D3962}"/>
              </a:ext>
            </a:extLst>
          </p:cNvPr>
          <p:cNvSpPr/>
          <p:nvPr/>
        </p:nvSpPr>
        <p:spPr>
          <a:xfrm>
            <a:off x="720044" y="2365501"/>
            <a:ext cx="520608" cy="5139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D0DFC6-240B-4689-ACD0-3558406DF0DD}"/>
              </a:ext>
            </a:extLst>
          </p:cNvPr>
          <p:cNvSpPr/>
          <p:nvPr/>
        </p:nvSpPr>
        <p:spPr>
          <a:xfrm>
            <a:off x="781615" y="6469198"/>
            <a:ext cx="9781765" cy="786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7445930-4B04-45EB-B723-99E8B0444E00}"/>
              </a:ext>
            </a:extLst>
          </p:cNvPr>
          <p:cNvSpPr txBox="1"/>
          <p:nvPr/>
        </p:nvSpPr>
        <p:spPr>
          <a:xfrm>
            <a:off x="720044" y="1957922"/>
            <a:ext cx="4637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Submit subprocess to run </a:t>
            </a:r>
            <a:r>
              <a:rPr lang="en-US" dirty="0" err="1"/>
              <a:t>IPMITool</a:t>
            </a:r>
            <a:r>
              <a:rPr lang="en-US" dirty="0"/>
              <a:t> (Monitor)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E7089C3-8C87-4B43-B483-50573EF9EE8B}"/>
              </a:ext>
            </a:extLst>
          </p:cNvPr>
          <p:cNvSpPr txBox="1"/>
          <p:nvPr/>
        </p:nvSpPr>
        <p:spPr>
          <a:xfrm>
            <a:off x="3433054" y="5278462"/>
            <a:ext cx="478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Combine exec command and output (Monitor)</a:t>
            </a:r>
          </a:p>
        </p:txBody>
      </p:sp>
      <p:sp>
        <p:nvSpPr>
          <p:cNvPr id="71" name="等腰三角形 70">
            <a:extLst>
              <a:ext uri="{FF2B5EF4-FFF2-40B4-BE49-F238E27FC236}">
                <a16:creationId xmlns:a16="http://schemas.microsoft.com/office/drawing/2014/main" id="{9501A925-7C50-4E13-AD04-978099019782}"/>
              </a:ext>
            </a:extLst>
          </p:cNvPr>
          <p:cNvSpPr/>
          <p:nvPr/>
        </p:nvSpPr>
        <p:spPr>
          <a:xfrm rot="5400000">
            <a:off x="10588505" y="6372919"/>
            <a:ext cx="220980" cy="27123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2B442A9F-0551-4583-8195-CBB2EADF4397}"/>
              </a:ext>
            </a:extLst>
          </p:cNvPr>
          <p:cNvSpPr/>
          <p:nvPr/>
        </p:nvSpPr>
        <p:spPr>
          <a:xfrm>
            <a:off x="4393614" y="4623420"/>
            <a:ext cx="520608" cy="5139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Tn</a:t>
            </a:r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06B18FCC-3A6C-4677-8974-0101409890FA}"/>
              </a:ext>
            </a:extLst>
          </p:cNvPr>
          <p:cNvSpPr/>
          <p:nvPr/>
        </p:nvSpPr>
        <p:spPr>
          <a:xfrm>
            <a:off x="6040004" y="2381484"/>
            <a:ext cx="520608" cy="5139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D687DED9-E454-422D-B28A-F5C53FE856E1}"/>
              </a:ext>
            </a:extLst>
          </p:cNvPr>
          <p:cNvSpPr txBox="1"/>
          <p:nvPr/>
        </p:nvSpPr>
        <p:spPr>
          <a:xfrm>
            <a:off x="6010517" y="2483967"/>
            <a:ext cx="579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parser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41C76F6-B09D-4DCF-8376-8C48EB69EC63}"/>
              </a:ext>
            </a:extLst>
          </p:cNvPr>
          <p:cNvSpPr/>
          <p:nvPr/>
        </p:nvSpPr>
        <p:spPr>
          <a:xfrm>
            <a:off x="7038614" y="2406297"/>
            <a:ext cx="1055354" cy="11573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SQL command</a:t>
            </a:r>
          </a:p>
        </p:txBody>
      </p: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556611B1-090F-4F45-90F4-01B168DE6788}"/>
              </a:ext>
            </a:extLst>
          </p:cNvPr>
          <p:cNvCxnSpPr>
            <a:cxnSpLocks/>
            <a:stCxn id="243" idx="3"/>
            <a:endCxn id="105" idx="2"/>
          </p:cNvCxnSpPr>
          <p:nvPr/>
        </p:nvCxnSpPr>
        <p:spPr>
          <a:xfrm>
            <a:off x="5754038" y="2636918"/>
            <a:ext cx="285966" cy="1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C4BA3441-00B1-41A5-941C-722ACBD41896}"/>
              </a:ext>
            </a:extLst>
          </p:cNvPr>
          <p:cNvSpPr txBox="1"/>
          <p:nvPr/>
        </p:nvSpPr>
        <p:spPr>
          <a:xfrm>
            <a:off x="5667082" y="1901381"/>
            <a:ext cx="420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Parse and Append </a:t>
            </a:r>
            <a:r>
              <a:rPr lang="en-US" dirty="0" err="1"/>
              <a:t>sql</a:t>
            </a:r>
            <a:r>
              <a:rPr lang="en-US" dirty="0"/>
              <a:t> command (Parser)</a:t>
            </a:r>
          </a:p>
        </p:txBody>
      </p:sp>
      <p:sp>
        <p:nvSpPr>
          <p:cNvPr id="131" name="橢圓 130">
            <a:extLst>
              <a:ext uri="{FF2B5EF4-FFF2-40B4-BE49-F238E27FC236}">
                <a16:creationId xmlns:a16="http://schemas.microsoft.com/office/drawing/2014/main" id="{FA685CB5-89A0-4B67-811E-03DE536B89EC}"/>
              </a:ext>
            </a:extLst>
          </p:cNvPr>
          <p:cNvSpPr/>
          <p:nvPr/>
        </p:nvSpPr>
        <p:spPr>
          <a:xfrm>
            <a:off x="8453768" y="2327398"/>
            <a:ext cx="520608" cy="5139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DA213994-0692-49CB-ACAB-E7921B1BB124}"/>
              </a:ext>
            </a:extLst>
          </p:cNvPr>
          <p:cNvSpPr txBox="1"/>
          <p:nvPr/>
        </p:nvSpPr>
        <p:spPr>
          <a:xfrm>
            <a:off x="8384621" y="2391762"/>
            <a:ext cx="707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SQLCmd</a:t>
            </a:r>
            <a:endParaRPr lang="en-US" sz="1200" dirty="0"/>
          </a:p>
          <a:p>
            <a:r>
              <a:rPr lang="en-US" sz="1200" dirty="0"/>
              <a:t>Runner</a:t>
            </a:r>
          </a:p>
        </p:txBody>
      </p:sp>
      <p:sp>
        <p:nvSpPr>
          <p:cNvPr id="133" name="圓柱形 132">
            <a:extLst>
              <a:ext uri="{FF2B5EF4-FFF2-40B4-BE49-F238E27FC236}">
                <a16:creationId xmlns:a16="http://schemas.microsoft.com/office/drawing/2014/main" id="{845644A8-43AC-4097-B32D-6E7E1CA684B8}"/>
              </a:ext>
            </a:extLst>
          </p:cNvPr>
          <p:cNvSpPr/>
          <p:nvPr/>
        </p:nvSpPr>
        <p:spPr>
          <a:xfrm>
            <a:off x="9339828" y="2254451"/>
            <a:ext cx="822960" cy="1325563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cxnSp>
        <p:nvCxnSpPr>
          <p:cNvPr id="135" name="直線單箭頭接點 134">
            <a:extLst>
              <a:ext uri="{FF2B5EF4-FFF2-40B4-BE49-F238E27FC236}">
                <a16:creationId xmlns:a16="http://schemas.microsoft.com/office/drawing/2014/main" id="{C6D38199-C348-4BE7-97FD-9424DFF1BC89}"/>
              </a:ext>
            </a:extLst>
          </p:cNvPr>
          <p:cNvCxnSpPr>
            <a:cxnSpLocks/>
            <a:endCxn id="131" idx="2"/>
          </p:cNvCxnSpPr>
          <p:nvPr/>
        </p:nvCxnSpPr>
        <p:spPr>
          <a:xfrm>
            <a:off x="8093968" y="2584365"/>
            <a:ext cx="359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單箭頭接點 173">
            <a:extLst>
              <a:ext uri="{FF2B5EF4-FFF2-40B4-BE49-F238E27FC236}">
                <a16:creationId xmlns:a16="http://schemas.microsoft.com/office/drawing/2014/main" id="{896F31A7-8775-41FD-9284-4C526A310C65}"/>
              </a:ext>
            </a:extLst>
          </p:cNvPr>
          <p:cNvCxnSpPr>
            <a:cxnSpLocks/>
          </p:cNvCxnSpPr>
          <p:nvPr/>
        </p:nvCxnSpPr>
        <p:spPr>
          <a:xfrm>
            <a:off x="8974376" y="2584365"/>
            <a:ext cx="3949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橢圓 187">
            <a:extLst>
              <a:ext uri="{FF2B5EF4-FFF2-40B4-BE49-F238E27FC236}">
                <a16:creationId xmlns:a16="http://schemas.microsoft.com/office/drawing/2014/main" id="{E52F6BE4-FC73-4F9D-8828-E0A4BD84FB7D}"/>
              </a:ext>
            </a:extLst>
          </p:cNvPr>
          <p:cNvSpPr/>
          <p:nvPr/>
        </p:nvSpPr>
        <p:spPr>
          <a:xfrm>
            <a:off x="1152917" y="3448671"/>
            <a:ext cx="520608" cy="5139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T2</a:t>
            </a:r>
          </a:p>
        </p:txBody>
      </p:sp>
      <p:cxnSp>
        <p:nvCxnSpPr>
          <p:cNvPr id="191" name="直線單箭頭接點 190">
            <a:extLst>
              <a:ext uri="{FF2B5EF4-FFF2-40B4-BE49-F238E27FC236}">
                <a16:creationId xmlns:a16="http://schemas.microsoft.com/office/drawing/2014/main" id="{FCA927AD-4FFD-4E3B-AA19-CC229A7B8C3F}"/>
              </a:ext>
            </a:extLst>
          </p:cNvPr>
          <p:cNvCxnSpPr>
            <a:cxnSpLocks/>
          </p:cNvCxnSpPr>
          <p:nvPr/>
        </p:nvCxnSpPr>
        <p:spPr>
          <a:xfrm>
            <a:off x="1240652" y="2628290"/>
            <a:ext cx="345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橢圓 193">
            <a:extLst>
              <a:ext uri="{FF2B5EF4-FFF2-40B4-BE49-F238E27FC236}">
                <a16:creationId xmlns:a16="http://schemas.microsoft.com/office/drawing/2014/main" id="{9F9FE381-01F0-4290-8E5A-F361AF4B0F8D}"/>
              </a:ext>
            </a:extLst>
          </p:cNvPr>
          <p:cNvSpPr/>
          <p:nvPr/>
        </p:nvSpPr>
        <p:spPr>
          <a:xfrm>
            <a:off x="1585790" y="2517051"/>
            <a:ext cx="256478" cy="25061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15E9CF4F-459D-46A6-9EEA-591AFC3F7083}"/>
              </a:ext>
            </a:extLst>
          </p:cNvPr>
          <p:cNvSpPr/>
          <p:nvPr/>
        </p:nvSpPr>
        <p:spPr>
          <a:xfrm>
            <a:off x="1842268" y="2823199"/>
            <a:ext cx="256478" cy="25061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A71BFE8A-0892-4B56-96A0-7D009137852C}"/>
              </a:ext>
            </a:extLst>
          </p:cNvPr>
          <p:cNvSpPr/>
          <p:nvPr/>
        </p:nvSpPr>
        <p:spPr>
          <a:xfrm>
            <a:off x="2098746" y="3126831"/>
            <a:ext cx="256478" cy="25061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0" name="直線單箭頭接點 199">
            <a:extLst>
              <a:ext uri="{FF2B5EF4-FFF2-40B4-BE49-F238E27FC236}">
                <a16:creationId xmlns:a16="http://schemas.microsoft.com/office/drawing/2014/main" id="{FDB49D74-344E-4256-9518-5AEAD374C0CB}"/>
              </a:ext>
            </a:extLst>
          </p:cNvPr>
          <p:cNvCxnSpPr>
            <a:stCxn id="4" idx="6"/>
            <a:endCxn id="197" idx="2"/>
          </p:cNvCxnSpPr>
          <p:nvPr/>
        </p:nvCxnSpPr>
        <p:spPr>
          <a:xfrm>
            <a:off x="1240652" y="2622468"/>
            <a:ext cx="601616" cy="326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單箭頭接點 201">
            <a:extLst>
              <a:ext uri="{FF2B5EF4-FFF2-40B4-BE49-F238E27FC236}">
                <a16:creationId xmlns:a16="http://schemas.microsoft.com/office/drawing/2014/main" id="{B7E944DB-1283-4753-BAD0-3A6127BE1E2E}"/>
              </a:ext>
            </a:extLst>
          </p:cNvPr>
          <p:cNvCxnSpPr>
            <a:stCxn id="4" idx="6"/>
            <a:endCxn id="198" idx="2"/>
          </p:cNvCxnSpPr>
          <p:nvPr/>
        </p:nvCxnSpPr>
        <p:spPr>
          <a:xfrm>
            <a:off x="1240652" y="2622468"/>
            <a:ext cx="858094" cy="62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接點: 肘形 205">
            <a:extLst>
              <a:ext uri="{FF2B5EF4-FFF2-40B4-BE49-F238E27FC236}">
                <a16:creationId xmlns:a16="http://schemas.microsoft.com/office/drawing/2014/main" id="{85BC6348-45EC-4392-924E-80A8665F8FC7}"/>
              </a:ext>
            </a:extLst>
          </p:cNvPr>
          <p:cNvCxnSpPr>
            <a:stCxn id="4" idx="4"/>
            <a:endCxn id="188" idx="2"/>
          </p:cNvCxnSpPr>
          <p:nvPr/>
        </p:nvCxnSpPr>
        <p:spPr>
          <a:xfrm rot="16200000" flipH="1">
            <a:off x="653530" y="3206251"/>
            <a:ext cx="826204" cy="172569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字方塊 206">
            <a:extLst>
              <a:ext uri="{FF2B5EF4-FFF2-40B4-BE49-F238E27FC236}">
                <a16:creationId xmlns:a16="http://schemas.microsoft.com/office/drawing/2014/main" id="{684986FA-BA28-4C5E-BD6A-6A092ABD00C6}"/>
              </a:ext>
            </a:extLst>
          </p:cNvPr>
          <p:cNvSpPr txBox="1"/>
          <p:nvPr/>
        </p:nvSpPr>
        <p:spPr>
          <a:xfrm>
            <a:off x="676682" y="3070490"/>
            <a:ext cx="487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  <a:p>
            <a:r>
              <a:rPr lang="en-US" dirty="0"/>
              <a:t>sec</a:t>
            </a:r>
          </a:p>
        </p:txBody>
      </p:sp>
      <p:cxnSp>
        <p:nvCxnSpPr>
          <p:cNvPr id="208" name="接點: 肘形 207">
            <a:extLst>
              <a:ext uri="{FF2B5EF4-FFF2-40B4-BE49-F238E27FC236}">
                <a16:creationId xmlns:a16="http://schemas.microsoft.com/office/drawing/2014/main" id="{E34488F7-01C2-40CC-9B27-8FCA813256F9}"/>
              </a:ext>
            </a:extLst>
          </p:cNvPr>
          <p:cNvCxnSpPr>
            <a:cxnSpLocks/>
            <a:stCxn id="188" idx="4"/>
            <a:endCxn id="87" idx="2"/>
          </p:cNvCxnSpPr>
          <p:nvPr/>
        </p:nvCxnSpPr>
        <p:spPr>
          <a:xfrm rot="16200000" flipH="1">
            <a:off x="2444526" y="2931298"/>
            <a:ext cx="917783" cy="2980393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字方塊 212">
            <a:extLst>
              <a:ext uri="{FF2B5EF4-FFF2-40B4-BE49-F238E27FC236}">
                <a16:creationId xmlns:a16="http://schemas.microsoft.com/office/drawing/2014/main" id="{605D1E29-F0D2-4A36-944E-97B5CEAB32FB}"/>
              </a:ext>
            </a:extLst>
          </p:cNvPr>
          <p:cNvSpPr txBox="1"/>
          <p:nvPr/>
        </p:nvSpPr>
        <p:spPr>
          <a:xfrm>
            <a:off x="1354634" y="4592832"/>
            <a:ext cx="487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  <a:p>
            <a:r>
              <a:rPr lang="en-US" dirty="0"/>
              <a:t>sec</a:t>
            </a:r>
          </a:p>
        </p:txBody>
      </p:sp>
      <p:cxnSp>
        <p:nvCxnSpPr>
          <p:cNvPr id="214" name="直線單箭頭接點 213">
            <a:extLst>
              <a:ext uri="{FF2B5EF4-FFF2-40B4-BE49-F238E27FC236}">
                <a16:creationId xmlns:a16="http://schemas.microsoft.com/office/drawing/2014/main" id="{54092003-793D-4043-B43F-08CFB482A8F5}"/>
              </a:ext>
            </a:extLst>
          </p:cNvPr>
          <p:cNvCxnSpPr>
            <a:cxnSpLocks/>
            <a:stCxn id="194" idx="6"/>
            <a:endCxn id="228" idx="1"/>
          </p:cNvCxnSpPr>
          <p:nvPr/>
        </p:nvCxnSpPr>
        <p:spPr>
          <a:xfrm flipV="1">
            <a:off x="1842268" y="2636918"/>
            <a:ext cx="1869601" cy="5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線單箭頭接點 216">
            <a:extLst>
              <a:ext uri="{FF2B5EF4-FFF2-40B4-BE49-F238E27FC236}">
                <a16:creationId xmlns:a16="http://schemas.microsoft.com/office/drawing/2014/main" id="{CA223595-F005-4B5A-B5A9-7FB3D489B41E}"/>
              </a:ext>
            </a:extLst>
          </p:cNvPr>
          <p:cNvCxnSpPr>
            <a:cxnSpLocks/>
          </p:cNvCxnSpPr>
          <p:nvPr/>
        </p:nvCxnSpPr>
        <p:spPr>
          <a:xfrm flipV="1">
            <a:off x="2098070" y="2920723"/>
            <a:ext cx="1796340" cy="10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03E5549F-DD31-4C90-84E5-96E3D5B7025B}"/>
              </a:ext>
            </a:extLst>
          </p:cNvPr>
          <p:cNvSpPr txBox="1"/>
          <p:nvPr/>
        </p:nvSpPr>
        <p:spPr>
          <a:xfrm>
            <a:off x="7121309" y="3714130"/>
            <a:ext cx="443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Execute command to MySQL DB (Executor)</a:t>
            </a: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C5DE818E-CA96-42DB-8F0E-697F6E156C92}"/>
              </a:ext>
            </a:extLst>
          </p:cNvPr>
          <p:cNvSpPr/>
          <p:nvPr/>
        </p:nvSpPr>
        <p:spPr>
          <a:xfrm>
            <a:off x="3711869" y="2511609"/>
            <a:ext cx="858094" cy="250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IPMI Output</a:t>
            </a: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6C3F7C06-7223-4CE8-B807-6B14B5834211}"/>
              </a:ext>
            </a:extLst>
          </p:cNvPr>
          <p:cNvSpPr/>
          <p:nvPr/>
        </p:nvSpPr>
        <p:spPr>
          <a:xfrm>
            <a:off x="4768599" y="2511609"/>
            <a:ext cx="985439" cy="250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Plan + Output</a:t>
            </a:r>
          </a:p>
        </p:txBody>
      </p:sp>
      <p:cxnSp>
        <p:nvCxnSpPr>
          <p:cNvPr id="246" name="直線單箭頭接點 245">
            <a:extLst>
              <a:ext uri="{FF2B5EF4-FFF2-40B4-BE49-F238E27FC236}">
                <a16:creationId xmlns:a16="http://schemas.microsoft.com/office/drawing/2014/main" id="{AF96AC3D-E8D0-4F43-9719-B8E31750CD71}"/>
              </a:ext>
            </a:extLst>
          </p:cNvPr>
          <p:cNvCxnSpPr>
            <a:cxnSpLocks/>
            <a:stCxn id="228" idx="2"/>
            <a:endCxn id="87" idx="0"/>
          </p:cNvCxnSpPr>
          <p:nvPr/>
        </p:nvCxnSpPr>
        <p:spPr>
          <a:xfrm>
            <a:off x="4140916" y="2762227"/>
            <a:ext cx="513002" cy="186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單箭頭接點 247">
            <a:extLst>
              <a:ext uri="{FF2B5EF4-FFF2-40B4-BE49-F238E27FC236}">
                <a16:creationId xmlns:a16="http://schemas.microsoft.com/office/drawing/2014/main" id="{72E17DED-69E9-4E29-921D-DBE2DB0A9E54}"/>
              </a:ext>
            </a:extLst>
          </p:cNvPr>
          <p:cNvCxnSpPr>
            <a:cxnSpLocks/>
            <a:stCxn id="87" idx="0"/>
            <a:endCxn id="243" idx="2"/>
          </p:cNvCxnSpPr>
          <p:nvPr/>
        </p:nvCxnSpPr>
        <p:spPr>
          <a:xfrm flipV="1">
            <a:off x="4653918" y="2762227"/>
            <a:ext cx="607401" cy="186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單箭頭接點 250">
            <a:extLst>
              <a:ext uri="{FF2B5EF4-FFF2-40B4-BE49-F238E27FC236}">
                <a16:creationId xmlns:a16="http://schemas.microsoft.com/office/drawing/2014/main" id="{C2C90474-033D-404F-8236-020F2DD79370}"/>
              </a:ext>
            </a:extLst>
          </p:cNvPr>
          <p:cNvCxnSpPr>
            <a:cxnSpLocks/>
          </p:cNvCxnSpPr>
          <p:nvPr/>
        </p:nvCxnSpPr>
        <p:spPr>
          <a:xfrm>
            <a:off x="6560612" y="2650194"/>
            <a:ext cx="478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文字方塊 265">
            <a:extLst>
              <a:ext uri="{FF2B5EF4-FFF2-40B4-BE49-F238E27FC236}">
                <a16:creationId xmlns:a16="http://schemas.microsoft.com/office/drawing/2014/main" id="{17A3739A-4249-43DC-978E-A6B11FB89F5D}"/>
              </a:ext>
            </a:extLst>
          </p:cNvPr>
          <p:cNvSpPr txBox="1"/>
          <p:nvPr/>
        </p:nvSpPr>
        <p:spPr>
          <a:xfrm>
            <a:off x="2164080" y="2449999"/>
            <a:ext cx="1087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IPMI exec</a:t>
            </a:r>
          </a:p>
        </p:txBody>
      </p:sp>
    </p:spTree>
    <p:extLst>
      <p:ext uri="{BB962C8B-B14F-4D97-AF65-F5344CB8AC3E}">
        <p14:creationId xmlns:p14="http://schemas.microsoft.com/office/powerpoint/2010/main" val="69158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802838-11B5-4357-9536-29E3258D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Concerns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4C28EC8-8D9B-47C9-8207-C064D5767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36259"/>
              </p:ext>
            </p:extLst>
          </p:nvPr>
        </p:nvGraphicFramePr>
        <p:xfrm>
          <a:off x="1828800" y="2582245"/>
          <a:ext cx="693018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605">
                  <a:extLst>
                    <a:ext uri="{9D8B030D-6E8A-4147-A177-3AD203B41FA5}">
                      <a16:colId xmlns:a16="http://schemas.microsoft.com/office/drawing/2014/main" val="49522338"/>
                    </a:ext>
                  </a:extLst>
                </a:gridCol>
                <a:gridCol w="1022684">
                  <a:extLst>
                    <a:ext uri="{9D8B030D-6E8A-4147-A177-3AD203B41FA5}">
                      <a16:colId xmlns:a16="http://schemas.microsoft.com/office/drawing/2014/main" val="285537608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602583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608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Write admin file 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61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 admin file 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318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Write DMS DB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49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 DMS DB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24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Read/Write web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1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 code and execute 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035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 code and execute internal (Non-Admin)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08280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64468DBA-9D95-4183-818B-60C2CF4BA322}"/>
              </a:ext>
            </a:extLst>
          </p:cNvPr>
          <p:cNvSpPr txBox="1"/>
          <p:nvPr/>
        </p:nvSpPr>
        <p:spPr>
          <a:xfrm>
            <a:off x="1022684" y="1792705"/>
            <a:ext cx="5002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 What abilities are in the radar:</a:t>
            </a:r>
          </a:p>
        </p:txBody>
      </p:sp>
    </p:spTree>
    <p:extLst>
      <p:ext uri="{BB962C8B-B14F-4D97-AF65-F5344CB8AC3E}">
        <p14:creationId xmlns:p14="http://schemas.microsoft.com/office/powerpoint/2010/main" val="129506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68D4D2-E9E4-4751-9745-E701674E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to protect DB user / </a:t>
            </a:r>
            <a:r>
              <a:rPr lang="en-US" dirty="0" err="1"/>
              <a:t>pwd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5EE790-60EB-4934-A3B0-B97F537C0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TW" dirty="0"/>
              <a:t>Try an admin permission command to ensure user have permission.</a:t>
            </a:r>
          </a:p>
          <a:p>
            <a:pPr marL="514350" indent="-514350">
              <a:buAutoNum type="arabicPeriod"/>
            </a:pPr>
            <a:r>
              <a:rPr lang="en-US" dirty="0"/>
              <a:t>From 1</a:t>
            </a:r>
            <a:r>
              <a:rPr lang="en-US" baseline="30000" dirty="0"/>
              <a:t>st</a:t>
            </a:r>
            <a:r>
              <a:rPr lang="en-US" dirty="0"/>
              <a:t>, collect its dynamic output and create a AES key from MD5.</a:t>
            </a:r>
          </a:p>
          <a:p>
            <a:pPr marL="514350" indent="-514350">
              <a:buAutoNum type="arabicPeriod"/>
            </a:pPr>
            <a:r>
              <a:rPr lang="en-US" dirty="0"/>
              <a:t>Create cipher from AES key and then use cipher to encode or decode the DB worker’s password into local password file.</a:t>
            </a:r>
          </a:p>
          <a:p>
            <a:pPr marL="514350" indent="-514350">
              <a:buAutoNum type="arabicPeriod"/>
            </a:pPr>
            <a:r>
              <a:rPr lang="en-US" dirty="0"/>
              <a:t>Announce the local password file 5 minutes before update to ensure the web application can aware and reconnect before try.</a:t>
            </a:r>
          </a:p>
          <a:p>
            <a:pPr marL="514350" indent="-514350">
              <a:buAutoNum type="arabicPeriod"/>
            </a:pPr>
            <a:r>
              <a:rPr lang="en-US" dirty="0"/>
              <a:t>Change new password every 10 minutes by backend service.</a:t>
            </a:r>
          </a:p>
          <a:p>
            <a:pPr marL="514350" indent="-514350">
              <a:buAutoNum type="arabicPeriod"/>
            </a:pPr>
            <a:r>
              <a:rPr lang="en-US" dirty="0"/>
              <a:t>DB admin user can use </a:t>
            </a:r>
            <a:r>
              <a:rPr lang="en-US" dirty="0" err="1"/>
              <a:t>SQLCmdRunner</a:t>
            </a:r>
            <a:r>
              <a:rPr lang="en-US" dirty="0"/>
              <a:t> to reset the worker’s password.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50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4805B-D61B-4BD5-BCCE-65B5D67E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2857DC-27D0-4CD3-81A7-515884B83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5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658</Words>
  <Application>Microsoft Office PowerPoint</Application>
  <PresentationFormat>寬螢幕</PresentationFormat>
  <Paragraphs>96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等线</vt:lpstr>
      <vt:lpstr>等线 Light</vt:lpstr>
      <vt:lpstr>新細明體</vt:lpstr>
      <vt:lpstr>Arial</vt:lpstr>
      <vt:lpstr>Calibri</vt:lpstr>
      <vt:lpstr>Calibri Light</vt:lpstr>
      <vt:lpstr>Office 佈景主題</vt:lpstr>
      <vt:lpstr>Datacenter  Management System</vt:lpstr>
      <vt:lpstr>Road map/Milestone</vt:lpstr>
      <vt:lpstr>Architecture</vt:lpstr>
      <vt:lpstr>IPMI Tool limitation</vt:lpstr>
      <vt:lpstr>Backend service mechanism</vt:lpstr>
      <vt:lpstr>Monitor, Parser and Executor</vt:lpstr>
      <vt:lpstr>Vulnerability Concerns</vt:lpstr>
      <vt:lpstr>Mechanism to protect DB user / pwd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Datacenter  Management System</dc:title>
  <dc:creator>Benson Tan</dc:creator>
  <cp:lastModifiedBy>Benson Tan</cp:lastModifiedBy>
  <cp:revision>37</cp:revision>
  <dcterms:created xsi:type="dcterms:W3CDTF">2018-03-29T04:37:08Z</dcterms:created>
  <dcterms:modified xsi:type="dcterms:W3CDTF">2018-04-17T14:03:23Z</dcterms:modified>
</cp:coreProperties>
</file>